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5fcaea5d884480" /><Relationship Type="http://schemas.openxmlformats.org/officeDocument/2006/relationships/extended-properties" Target="/docProps/app.xml" Id="R11fccb53df4640c4" /><Relationship Type="http://schemas.openxmlformats.org/officeDocument/2006/relationships/officeDocument" Target="/ppt/presentation.xml" Id="R99bb042b3aff4c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54fa99990f4eb1"/>
  </p:sldMasterIdLst>
  <p:notesMasterIdLst>
    <p:notesMasterId xmlns:r="http://schemas.openxmlformats.org/officeDocument/2006/relationships" r:id="R0582816f6ceb4c61"/>
  </p:notesMasterIdLst>
  <p:sldIdLst>
    <p:sldId xmlns:r="http://schemas.openxmlformats.org/officeDocument/2006/relationships" id="256" r:id="Rdacea871e4c544c1"/>
    <p:sldId xmlns:r="http://schemas.openxmlformats.org/officeDocument/2006/relationships" id="257" r:id="R02388fda1f7743b1"/>
    <p:sldId xmlns:r="http://schemas.openxmlformats.org/officeDocument/2006/relationships" id="258" r:id="R5a48019794314fec"/>
    <p:sldId xmlns:r="http://schemas.openxmlformats.org/officeDocument/2006/relationships" id="259" r:id="R8db7c7b865384c67"/>
    <p:sldId xmlns:r="http://schemas.openxmlformats.org/officeDocument/2006/relationships" id="260" r:id="R5582a1b540b44a28"/>
    <p:sldId xmlns:r="http://schemas.openxmlformats.org/officeDocument/2006/relationships" id="261" r:id="R12f2d37a630d412f"/>
    <p:sldId xmlns:r="http://schemas.openxmlformats.org/officeDocument/2006/relationships" id="262" r:id="R78ec816359bd4ecb"/>
    <p:sldId xmlns:r="http://schemas.openxmlformats.org/officeDocument/2006/relationships" id="263" r:id="Rac94f805adaa4ad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ece8201f774fe8" /><Relationship Type="http://schemas.openxmlformats.org/officeDocument/2006/relationships/slideMaster" Target="/ppt/slideMasters/slideMaster1.xml" Id="Rc754fa99990f4eb1" /><Relationship Type="http://schemas.openxmlformats.org/officeDocument/2006/relationships/notesMaster" Target="/ppt/notesMasters/notesMaster1.xml" Id="R0582816f6ceb4c61" /><Relationship Type="http://schemas.openxmlformats.org/officeDocument/2006/relationships/presProps" Target="/ppt/presProps.xml" Id="R475b17d2d2da482d" /><Relationship Type="http://schemas.openxmlformats.org/officeDocument/2006/relationships/tableStyles" Target="/ppt/tableStyles.xml" Id="R4640f47e783c4f71" /><Relationship Type="http://schemas.openxmlformats.org/officeDocument/2006/relationships/slide" Target="/ppt/slides/slide1.xml" Id="Rdacea871e4c544c1" /><Relationship Type="http://schemas.openxmlformats.org/officeDocument/2006/relationships/slide" Target="/ppt/slides/slide2.xml" Id="R02388fda1f7743b1" /><Relationship Type="http://schemas.openxmlformats.org/officeDocument/2006/relationships/slide" Target="/ppt/slides/slide3.xml" Id="R5a48019794314fec" /><Relationship Type="http://schemas.openxmlformats.org/officeDocument/2006/relationships/slide" Target="/ppt/slides/slide4.xml" Id="R8db7c7b865384c67" /><Relationship Type="http://schemas.openxmlformats.org/officeDocument/2006/relationships/slide" Target="/ppt/slides/slide5.xml" Id="R5582a1b540b44a28" /><Relationship Type="http://schemas.openxmlformats.org/officeDocument/2006/relationships/slide" Target="/ppt/slides/slide6.xml" Id="R12f2d37a630d412f" /><Relationship Type="http://schemas.openxmlformats.org/officeDocument/2006/relationships/slide" Target="/ppt/slides/slide7.xml" Id="R78ec816359bd4ecb" /><Relationship Type="http://schemas.openxmlformats.org/officeDocument/2006/relationships/slide" Target="/ppt/slides/slide8.xml" Id="Rac94f805adaa4a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a40ecb363546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034c47fc1f4d83" /><Relationship Type="http://schemas.openxmlformats.org/officeDocument/2006/relationships/notesMaster" Target="/ppt/notesMasters/notesMaster1.xml" Id="R6e251d1e5bac47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9da018c0d84085" /><Relationship Type="http://schemas.openxmlformats.org/officeDocument/2006/relationships/notesMaster" Target="/ppt/notesMasters/notesMaster1.xml" Id="R50faf7d9f69348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fd90e495b342b1" /><Relationship Type="http://schemas.openxmlformats.org/officeDocument/2006/relationships/notesMaster" Target="/ppt/notesMasters/notesMaster1.xml" Id="Rc7237a2f059343e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0d3a757ecf4ebd" /><Relationship Type="http://schemas.openxmlformats.org/officeDocument/2006/relationships/notesMaster" Target="/ppt/notesMasters/notesMaster1.xml" Id="R3458b6b355844f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6c2b85861244c0" /><Relationship Type="http://schemas.openxmlformats.org/officeDocument/2006/relationships/notesMaster" Target="/ppt/notesMasters/notesMaster1.xml" Id="R86b88ac792b345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49d8491b9347cc" /><Relationship Type="http://schemas.openxmlformats.org/officeDocument/2006/relationships/notesMaster" Target="/ppt/notesMasters/notesMaster1.xml" Id="R5fa8be35711741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b1737aad8a4ad8" /><Relationship Type="http://schemas.openxmlformats.org/officeDocument/2006/relationships/notesMaster" Target="/ppt/notesMasters/notesMaster1.xml" Id="R8d0bbd39eaae4c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5ca45ae4af4047" /><Relationship Type="http://schemas.openxmlformats.org/officeDocument/2006/relationships/notesMaster" Target="/ppt/notesMasters/notesMaster1.xml" Id="R14765245ff9d45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25 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</a:t>
            </a:r>
          </a:p>
          <a:p xmlns:a="http://schemas.openxmlformats.org/drawingml/2006/main">
            <a:r>
              <a:t>Um modelo de crédito pode continuar gerando previsões mesmo quando os dados estão errados ou o comportamento dos clientes muda. Na Fase 4, trabalhei na sustentação desse modelo: como perceber problemas, bloquear entradas inválidas e reunir evidências para investigar uma queda de desempenho. Vou apresentar o fluxo e os resultados dos cenários de teste.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E EVIDÊNCIAS</a:t>
            </a:r>
          </a:p>
          <a:p xmlns:a="http://schemas.openxmlformats.org/drawingml/2006/main">
            <a:r>
              <a:t>https://github.com/ygormartinelli/tech-challenge-fase-4</a:t>
            </a:r>
          </a:p>
          <a:p xmlns:a="http://schemas.openxmlformats.org/drawingml/2006/main">
            <a:r>
              <a:t>Referência visual: Tech_Challenge_Fase3_STAR_Urgencia.pptx, apresentação pessoal da Fase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30 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</a:t>
            </a:r>
          </a:p>
          <a:p xmlns:a="http://schemas.openxmlformats.org/drawingml/2006/main">
            <a:r>
              <a:t>Organizei o pipeline em etapas com responsabilidades claras. O Pandera verifica o contrato antes da predição. O modelo do scikit-learn produz probabilidades. O Evidently compara a distribuição de cada variável com a referência. O MLflow e os logs registram o que aconteceu em cada execução. Para validar o comportamento, executei cinco cenários: controle, dados inválidos, drift moderado, drift severo e uma simulação de concept drift.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E EVIDÊNCIAS</a:t>
            </a:r>
          </a:p>
          <a:p xmlns:a="http://schemas.openxmlformats.org/drawingml/2006/main">
            <a:r>
              <a:t>https://github.com/ygormartinelli/tech-challenge-fase-4/blob/main/README.md</a:t>
            </a:r>
          </a:p>
          <a:p xmlns:a="http://schemas.openxmlformats.org/drawingml/2006/main">
            <a:r>
              <a:t>https://github.com/ygormartinelli/tech-challenge-fase-4/blob/main/docs/validacao.md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40 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</a:t>
            </a:r>
          </a:p>
          <a:p xmlns:a="http://schemas.openxmlformats.org/drawingml/2006/main">
            <a:r>
              <a:t>Usei a base pública Default of Credit Card Clients, da UCI, com trinta mil registros. A auditoria identificou 951 registros pertencentes a perfis financeiros duplicados. Excluí esse conjunto de forma conservadora para evitar sobreposição entre partições. Restaram 29.049 registros, separados em treino, validação e produção simulada. O modelo usa dezenove variáveis financeiras. Na validação, a regressão logística alcançou ROC-AUC de 0,766 e PR-AUC de 0,525. O recall de 0,364 mostra uma limitação importante no limiar escolhido. O objetivo aqui é demonstrar sustentação, sem afirmar prontidão para concessão de crédito.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E EVIDÊNCIAS</a:t>
            </a:r>
          </a:p>
          <a:p xmlns:a="http://schemas.openxmlformats.org/drawingml/2006/main">
            <a:r>
              <a:t>https://github.com/ygormartinelli/tech-challenge-fase-4/blob/main/reports/evidence/audit.json</a:t>
            </a:r>
          </a:p>
          <a:p xmlns:a="http://schemas.openxmlformats.org/drawingml/2006/main">
            <a:r>
              <a:t>https://github.com/ygormartinelli/tech-challenge-fase-4/blob/main/reports/evidence/training.json</a:t>
            </a:r>
          </a:p>
          <a:p xmlns:a="http://schemas.openxmlformats.org/drawingml/2006/main">
            <a:r>
              <a:t>https://archive.ics.uci.edu/dataset/350/default+of+credit+card+clients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35 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</a:t>
            </a:r>
          </a:p>
          <a:p xmlns:a="http://schemas.openxmlformats.org/drawingml/2006/main">
            <a:r>
              <a:t>Aqui está o fluxo funcionando com o lote válido. O pipeline aceitou os 5.810 registros e concluiu todas as predições. O print real do MLflow mostra o cenário control com status Finished, sucesso na inferência e 5.810 entradas. Não houve rejeições nem alertas de drift, e a ROC-AUC foi 0,771. Em um teste separado, inseri de propósito idade de doze anos, limite negativo e ID duplicado. Somente essa cópia inválida foi bloqueada antes da predição. Assim, comprovei tanto o funcionamento normal quanto a proteção contra dados incorretos.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E EVIDÊNCIAS</a:t>
            </a:r>
          </a:p>
          <a:p xmlns:a="http://schemas.openxmlformats.org/drawingml/2006/main">
            <a:r>
              <a:t>https://github.com/ygormartinelli/tech-challenge-fase-4/blob/main/reports/evidence/confirmation-54c176366b40.json</a:t>
            </a:r>
          </a:p>
          <a:p xmlns:a="http://schemas.openxmlformats.org/drawingml/2006/main">
            <a:r>
              <a:t>https://github.com/ygormartinelli/tech-challenge-fase-4/blob/main/reports/evidence/mlflow-control.jpg</a:t>
            </a:r>
          </a:p>
          <a:p xmlns:a="http://schemas.openxmlformats.org/drawingml/2006/main">
            <a:r>
              <a:t>Execução 54c176366b40, commit c1c0393e0a888ce299d8100f4c885cddb1807867, árvore limpa. Run control: 01844b2da8dc43c9b77eae15b04fb32c.</a:t>
            </a:r>
          </a:p>
          <a:p xmlns:a="http://schemas.openxmlformats.org/drawingml/2006/main">
            <a:r>
              <a:t>O print está recortado apenas para ampliar cabeçalho, métricas de inferência e status. A captura original permanece no repositório.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40 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</a:t>
            </a:r>
          </a:p>
          <a:p xmlns:a="http://schemas.openxmlformats.org/drawingml/2006/main">
            <a:r>
              <a:t>No cenário severo, alterei de forma controlada o limite de crédito e o status de atraso. O Evidently detectou exatamente essas duas variáveis, entre as dezenove monitoradas. O recorte do relatório mostra o PSI de 9,259 em pay_0 e de 2,677 em limit_bal, acima do limiar de 0,20. O relatório completo está salvo em HTML. Também calculei o teste KS como análise complementar, com correção para múltiplas comparações. O cenário de controle não gerou alertas de drift. Esses resultados demonstram a resposta do monitor às mudanças simuladas, sem atribuir uma causa econômica real.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E EVIDÊNCIAS</a:t>
            </a:r>
          </a:p>
          <a:p xmlns:a="http://schemas.openxmlformats.org/drawingml/2006/main">
            <a:r>
              <a:t>https://github.com/ygormartinelli/tech-challenge-fase-4/blob/main/reports/evidence/evidently-drift.jpg</a:t>
            </a:r>
          </a:p>
          <a:p xmlns:a="http://schemas.openxmlformats.org/drawingml/2006/main">
            <a:r>
              <a:t>https://github.com/ygormartinelli/tech-challenge-fase-4/blob/main/reports/evidence/drift_severe/evidently.html</a:t>
            </a:r>
          </a:p>
          <a:p xmlns:a="http://schemas.openxmlformats.org/drawingml/2006/main">
            <a:r>
              <a:t>https://github.com/ygormartinelli/tech-challenge-fase-4/blob/main/reports/evidence/summary.json</a:t>
            </a:r>
          </a:p>
          <a:p xmlns:a="http://schemas.openxmlformats.org/drawingml/2006/main">
            <a:r>
              <a:t>Print da execução local 155695f2ee9d. O recorte amplia somente o resumo e as duas primeiras linhas. Relatório completo preservado no repositório.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35 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</a:t>
            </a:r>
          </a:p>
          <a:p xmlns:a="http://schemas.openxmlformats.org/drawingml/2006/main">
            <a:r>
              <a:t>Para testar concept drift, mantive as entradas iguais às do controle e alterei os rótulos apenas em uma cópia de simulação, em um segmento definido pelas variáveis financeiras. Os rótulos originais foram preservados. Com isso, o monitor de distribuição continuou sem alertas, mas a ROC-AUC caiu de 0,771 para 0,491. A queda de 0,280 acionou o monitor de desempenho. O experimento mostra por que precisamos acompanhar resultados quando os rótulos chegam, além de monitorar as entradas.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E EVIDÊNCIAS</a:t>
            </a:r>
          </a:p>
          <a:p xmlns:a="http://schemas.openxmlformats.org/drawingml/2006/main">
            <a:r>
              <a:t>https://github.com/ygormartinelli/tech-challenge-fase-4/blob/main/reports/evidence/summary.json</a:t>
            </a:r>
          </a:p>
          <a:p xmlns:a="http://schemas.openxmlformats.org/drawingml/2006/main">
            <a:r>
              <a:t>https://github.com/ygormartinelli/tech-challenge-fase-4/blob/main/docs/validacao.md</a:t>
            </a:r>
          </a:p>
          <a:p xmlns:a="http://schemas.openxmlformats.org/drawingml/2006/main">
            <a:r>
              <a:t>Simulação: probabilidade 0,8 de inverter rótulos no segmento pay_0 &lt;= 0 e bill_amt_1 acima da mediana da referência. Não representa mudança real observada.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30 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</a:t>
            </a:r>
          </a:p>
          <a:p xmlns:a="http://schemas.openxmlformats.org/drawingml/2006/main">
            <a:r>
              <a:t>A implementação está integrada à main com o histórico de commits preservado. O print do GitHub Actions mostra a execução aprovada no commit 20bb848, tanto no Ubuntu quanto no Windows. Cada ambiente passou pelos treze testes, além das verificações de estilo. A reprodução independente também registrou hashes dos dados, do modelo e da configuração. Nos logs, cada etapa inclui status, duração, volume, CPU e memória. Isso permite relacionar uma evidência ao código e à execução que a produziram.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E EVIDÊNCIAS</a:t>
            </a:r>
          </a:p>
          <a:p xmlns:a="http://schemas.openxmlformats.org/drawingml/2006/main">
            <a:r>
              <a:t>https://github.com/ygormartinelli/tech-challenge-fase-4/actions/runs/40738193953</a:t>
            </a:r>
          </a:p>
          <a:p xmlns:a="http://schemas.openxmlformats.org/drawingml/2006/main">
            <a:r>
              <a:t>https://github.com/ygormartinelli/tech-challenge-fase-4/commit/20bb84803073268c580a4b154ab59f9de5c0a89b</a:t>
            </a:r>
          </a:p>
          <a:p xmlns:a="http://schemas.openxmlformats.org/drawingml/2006/main">
            <a:r>
              <a:t>https://github.com/ygormartinelli/tech-challenge-fase-4/blob/main/docs/validacao.md</a:t>
            </a:r>
          </a:p>
          <a:p xmlns:a="http://schemas.openxmlformats.org/drawingml/2006/main">
            <a:r>
              <a:t>CI capturado em 28/10/2026. Reprodução independente: execução 4fcf49530f99, commit bc0ae1abc23914fcd294acedab9761193fd4ae41. O código funcional, configuração e testes são os mesmos do merge 20bb848.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45 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</a:t>
            </a:r>
          </a:p>
          <a:p xmlns:a="http://schemas.openxmlformats.org/drawingml/2006/main">
            <a:r>
              <a:t>O principal aprendizado foi separar problemas de qualidade, mudanças de distribuição e perda de desempenho. Cada problema exige uma evidência e uma resposta diferente. Na governança, documentei minimização dos dados, auditoria por grupos e limites de uso. Excluir atributos demográficos do preditor não elimina possíveis vieses, porque outras variáveis podem funcionar como proxies. A base é histórica e de Taiwan, então aplicar o modelo no Brasil exigiria nova validação. Os alertas orientam investigação e revisão humana. O repositório reúne código, relatórios, testes e histórico para que os resultados possam ser conferidos.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 E EVIDÊNCIAS</a:t>
            </a:r>
          </a:p>
          <a:p xmlns:a="http://schemas.openxmlformats.org/drawingml/2006/main">
            <a:r>
              <a:t>https://github.com/ygormartinelli/tech-challenge-fase-4/blob/main/README.md</a:t>
            </a:r>
          </a:p>
          <a:p xmlns:a="http://schemas.openxmlformats.org/drawingml/2006/main">
            <a:r>
              <a:t>https://github.com/ygormartinelli/tech-challenge-fase-4/blob/main/docs/validacao.md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8ca36c4dcc4b1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24b325c1ad4f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547f6422e44f9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1f6afd597d4e2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9091981f34c1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bd25d641444d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45B1A62-861E-4B51-824A-74136E7C94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6AB9B6F-3E2C-49CA-A960-FE60450E68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321EAB6-BEE0-4354-9F6B-F740403175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42D3372-F80D-4336-82A8-645F444CD2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8B360DF-F860-4E44-8927-52FC2D68D8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F65F006-28B0-41C3-A879-374B482E38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6916CC-EA1A-4B73-825E-6F162C49BA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77C3C60-02AF-4B0B-88C8-69C7FAEA67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C025D8-D0C1-4477-9F13-DF67C9E559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D6D19D1-AE16-4A08-8EAC-2E6D2A60C0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7784d3a02542b6" /><Relationship Type="http://schemas.openxmlformats.org/officeDocument/2006/relationships/slideLayout" Target="/ppt/slideLayouts/slideLayout1.xml" Id="Rf7a4f60e32914843" /><Relationship Type="http://schemas.openxmlformats.org/officeDocument/2006/relationships/slideLayout" Target="/ppt/slideLayouts/slideLayout2.xml" Id="Re761f89a3a594b11" /><Relationship Type="http://schemas.openxmlformats.org/officeDocument/2006/relationships/slideLayout" Target="/ppt/slideLayouts/slideLayout3.xml" Id="R5599539fdc7441f4" /><Relationship Type="http://schemas.openxmlformats.org/officeDocument/2006/relationships/slideLayout" Target="/ppt/slideLayouts/slideLayout4.xml" Id="Ref4445b85b9847f7" /><Relationship Type="http://schemas.openxmlformats.org/officeDocument/2006/relationships/slideLayout" Target="/ppt/slideLayouts/slideLayout5.xml" Id="R56851eb163814ff4" /><Relationship Type="http://schemas.openxmlformats.org/officeDocument/2006/relationships/slideLayout" Target="/ppt/slideLayouts/slideLayout6.xml" Id="R2b43717aedf844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a4f60e32914843"/>
    <p:sldLayoutId xmlns:r="http://schemas.openxmlformats.org/officeDocument/2006/relationships" id="2147483650" r:id="Re761f89a3a594b11"/>
    <p:sldLayoutId xmlns:r="http://schemas.openxmlformats.org/officeDocument/2006/relationships" id="2147483651" r:id="R5599539fdc7441f4"/>
    <p:sldLayoutId xmlns:r="http://schemas.openxmlformats.org/officeDocument/2006/relationships" id="2147483652" r:id="Ref4445b85b9847f7"/>
    <p:sldLayoutId xmlns:r="http://schemas.openxmlformats.org/officeDocument/2006/relationships" id="2147483653" r:id="R56851eb163814ff4"/>
    <p:sldLayoutId xmlns:r="http://schemas.openxmlformats.org/officeDocument/2006/relationships" id="2147483654" r:id="R2b43717aedf844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ee9393ceca4123" /><Relationship Type="http://schemas.openxmlformats.org/officeDocument/2006/relationships/image" Target="/ppt/media/image.png" Id="R115a3c4c0e1748f6" /><Relationship Type="http://schemas.openxmlformats.org/officeDocument/2006/relationships/notesSlide" Target="/ppt/notesSlides/notesSlide1.xml" Id="Rc3b551e6a89f45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ea113a9bd94891" /><Relationship Type="http://schemas.openxmlformats.org/officeDocument/2006/relationships/notesSlide" Target="/ppt/notesSlides/notesSlide2.xml" Id="Ra13e32e1507e42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eb718912f64ad9" /><Relationship Type="http://schemas.openxmlformats.org/officeDocument/2006/relationships/notesSlide" Target="/ppt/notesSlides/notesSlide3.xml" Id="R6694d668e6a54b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0fccd85351418e" /><Relationship Type="http://schemas.openxmlformats.org/officeDocument/2006/relationships/image" Target="/ppt/media/image.jpeg" Id="Raf7aa3f4bdf44801" /><Relationship Type="http://schemas.openxmlformats.org/officeDocument/2006/relationships/notesSlide" Target="/ppt/notesSlides/notesSlide4.xml" Id="R1320df5b232344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3c1018f5bb4532" /><Relationship Type="http://schemas.openxmlformats.org/officeDocument/2006/relationships/image" Target="/ppt/media/image2.jpeg" Id="R6ce41253e6624107" /><Relationship Type="http://schemas.openxmlformats.org/officeDocument/2006/relationships/notesSlide" Target="/ppt/notesSlides/notesSlide5.xml" Id="Reb8501accff64b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af13b492a247e3" /><Relationship Type="http://schemas.openxmlformats.org/officeDocument/2006/relationships/notesSlide" Target="/ppt/notesSlides/notesSlide6.xml" Id="R460d3403e94342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ffe5ceaebd40ee" /><Relationship Type="http://schemas.openxmlformats.org/officeDocument/2006/relationships/image" Target="/ppt/media/image3.jpeg" Id="R6351892adfa44427" /><Relationship Type="http://schemas.openxmlformats.org/officeDocument/2006/relationships/notesSlide" Target="/ppt/notesSlides/notesSlide7.xml" Id="R0071cbc4c52549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8f4a0a023b4604" /><Relationship Type="http://schemas.openxmlformats.org/officeDocument/2006/relationships/image" Target="/ppt/media/image2.png" Id="R16cf9f90bb1a4566" /><Relationship Type="http://schemas.openxmlformats.org/officeDocument/2006/relationships/notesSlide" Target="/ppt/notesSlides/notesSlide8.xml" Id="R62681bf33a9245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56D0D-E504-420B-9880-42EF9F4421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5a3c4c0e1748f6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ECH CHALLENGE FASE 4">
            <a:extLst xmlns:a="http://schemas.openxmlformats.org/drawingml/2006/main">
              <a:ext uri="{FF2B5EF4-FFF2-40B4-BE49-F238E27FC236}">
                <a16:creationId xmlns:a16="http://schemas.microsoft.com/office/drawing/2014/main" id="{94D5928F-C247-401B-8DE5-189577FA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TECH CHALLENGE FASE 4</a:t>
            </a:r>
          </a:p>
        </p:txBody>
      </p:sp>
      <p:sp>
        <p:nvSpPr>
          <p:cNvPr id="3" name="Monitoramento de&#10;modelos de crédito">
            <a:extLst xmlns:a="http://schemas.openxmlformats.org/drawingml/2006/main">
              <a:ext uri="{FF2B5EF4-FFF2-40B4-BE49-F238E27FC236}">
                <a16:creationId xmlns:a16="http://schemas.microsoft.com/office/drawing/2014/main" id="{D336A652-22B0-4D07-9E16-3FC7EE78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8382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Monitoramento de</a:t>
            </a:r>
          </a:p>
          <a:p xmlns:a="http://schemas.openxmlformats.org/drawingml/2006/main">
            <a:pPr>
              <a:buNone/>
              <a:defRPr sz="45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modelos de crédito</a:t>
            </a:r>
          </a:p>
        </p:txBody>
      </p:sp>
      <p:sp>
        <p:nvSpPr>
          <p:cNvPr id="4" name="Como identificar dados inválidos e&#10;mudanças q">
            <a:extLst xmlns:a="http://schemas.openxmlformats.org/drawingml/2006/main">
              <a:ext uri="{FF2B5EF4-FFF2-40B4-BE49-F238E27FC236}">
                <a16:creationId xmlns:a16="http://schemas.microsoft.com/office/drawing/2014/main" id="{75E90193-9F06-4B6E-BA02-9B84AD10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7429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B9CFD2"/>
                </a:solidFill>
                <a:latin typeface="Arial"/>
                <a:ea typeface="Arial"/>
                <a:cs typeface="Arial"/>
              </a:rPr>
              <a:t>Como identificar dados inválidos e</a:t>
            </a:r>
          </a:p>
          <a:p xmlns:a="http://schemas.openxmlformats.org/drawingml/2006/main">
            <a:pPr>
              <a:buNone/>
              <a:defRPr sz="225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B9CFD2"/>
                </a:solidFill>
                <a:latin typeface="Arial"/>
                <a:ea typeface="Arial"/>
                <a:cs typeface="Arial"/>
              </a:rPr>
              <a:t>mudanças que afetam as previsões</a:t>
            </a:r>
          </a:p>
        </p:txBody>
      </p:sp>
      <p:sp>
        <p:nvSpPr>
          <p:cNvPr id="5" name="Ygor Martinelli">
            <a:extLst xmlns:a="http://schemas.openxmlformats.org/drawingml/2006/main">
              <a:ext uri="{FF2B5EF4-FFF2-40B4-BE49-F238E27FC236}">
                <a16:creationId xmlns:a16="http://schemas.microsoft.com/office/drawing/2014/main" id="{304ECEEA-F5A7-419D-B918-10C018EA0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530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Ygor Martinelli</a:t>
            </a:r>
          </a:p>
        </p:txBody>
      </p:sp>
      <p:sp>
        <p:nvSpPr>
          <p:cNvPr id="6" name="Sustentação de ML   /   Apresentação STAR">
            <a:extLst xmlns:a="http://schemas.openxmlformats.org/drawingml/2006/main">
              <a:ext uri="{FF2B5EF4-FFF2-40B4-BE49-F238E27FC236}">
                <a16:creationId xmlns:a16="http://schemas.microsoft.com/office/drawing/2014/main" id="{F05AB9AD-36D7-4727-8BFD-20F04062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3E3CD"/>
                </a:solidFill>
                <a:latin typeface="Arial"/>
                <a:ea typeface="Arial"/>
                <a:cs typeface="Arial"/>
              </a:rPr>
              <a:t>Sustentação de ML   /   Apresentação STAR</a:t>
            </a:r>
          </a:p>
        </p:txBody>
      </p:sp>
    </p:spTree>
    <p:extLst>
      <p:ext uri="{BB962C8B-B14F-4D97-AF65-F5344CB8AC3E}">
        <p14:creationId xmlns:p14="http://schemas.microsoft.com/office/powerpoint/2010/main" val="438180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6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 • TAREFA">
            <a:extLst xmlns:a="http://schemas.openxmlformats.org/drawingml/2006/main">
              <a:ext uri="{FF2B5EF4-FFF2-40B4-BE49-F238E27FC236}">
                <a16:creationId xmlns:a16="http://schemas.microsoft.com/office/drawing/2014/main" id="{2B5E0165-EBA6-44B9-8969-020D25E1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716D"/>
                </a:solidFill>
                <a:latin typeface="Arial"/>
                <a:ea typeface="Arial"/>
                <a:cs typeface="Arial"/>
              </a:rPr>
              <a:t>T • TAREFA</a:t>
            </a:r>
          </a:p>
        </p:txBody>
      </p:sp>
      <p:sp>
        <p:nvSpPr>
          <p:cNvPr id="2" name="Cada etapa responde a um risco">
            <a:extLst xmlns:a="http://schemas.openxmlformats.org/drawingml/2006/main">
              <a:ext uri="{FF2B5EF4-FFF2-40B4-BE49-F238E27FC236}">
                <a16:creationId xmlns:a16="http://schemas.microsoft.com/office/drawing/2014/main" id="{6809544A-7EC8-4F94-BA8E-2EF324B8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E39"/>
                </a:solidFill>
                <a:latin typeface="Arial"/>
                <a:ea typeface="Arial"/>
                <a:cs typeface="Arial"/>
              </a:rPr>
              <a:t>Cada etapa responde a um risco</a:t>
            </a:r>
          </a:p>
        </p:txBody>
      </p:sp>
      <p:sp>
        <p:nvSpPr>
          <p:cNvPr id="3" name="Ygor Martinelli   /   Tech Challenge Fase 4">
            <a:extLst xmlns:a="http://schemas.openxmlformats.org/drawingml/2006/main">
              <a:ext uri="{FF2B5EF4-FFF2-40B4-BE49-F238E27FC236}">
                <a16:creationId xmlns:a16="http://schemas.microsoft.com/office/drawing/2014/main" id="{E35B7BC6-5FAA-4FB2-B114-C187957D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Ygor Martinelli   /   Tech Challenge Fase 4</a:t>
            </a:r>
          </a:p>
        </p:txBody>
      </p:sp>
      <p:sp>
        <p:nvSpPr>
          <p:cNvPr id="4" name="02">
            <a:extLst xmlns:a="http://schemas.openxmlformats.org/drawingml/2006/main">
              <a:ext uri="{FF2B5EF4-FFF2-40B4-BE49-F238E27FC236}">
                <a16:creationId xmlns:a16="http://schemas.microsoft.com/office/drawing/2014/main" id="{D7E41242-1589-4825-9A40-22FA6840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71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0D319-16F6-4ED9-A577-B71D725C283F}"/>
              </a:ext>
            </a:extLst>
          </p:cNvPr>
          <p:cNvGraphicFramePr/>
          <p:nvPr/>
        </p:nvGraphicFramePr>
        <p:xfrm>
          <a:off xmlns:a="http://schemas.openxmlformats.org/drawingml/2006/main" x="609600" y="201930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095625"/>
                <a:gridCol w="3143250"/>
                <a:gridCol w="4733925"/>
              </a:tblGrid>
              <a:tr h="666750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7FAF8"/>
                          </a:solidFill>
                          <a:latin typeface="Arial"/>
                          <a:ea typeface="Arial"/>
                          <a:cs typeface="Arial"/>
                        </a:rPr>
                        <a:t>Etapa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T w="9525">
                      <a:solidFill>
                        <a:srgbClr val="CCDCD8"/>
                      </a:solidFill>
                      <a:prstDash val="solid"/>
                    </a:lnT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0B716D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7FAF8"/>
                          </a:solidFill>
                          <a:latin typeface="Arial"/>
                          <a:ea typeface="Arial"/>
                          <a:cs typeface="Arial"/>
                        </a:rPr>
                        <a:t>Implementação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T w="9525">
                      <a:solidFill>
                        <a:srgbClr val="CCDCD8"/>
                      </a:solidFill>
                      <a:prstDash val="solid"/>
                    </a:lnT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0B716D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7FAF8"/>
                          </a:solidFill>
                          <a:latin typeface="Arial"/>
                          <a:ea typeface="Arial"/>
                          <a:cs typeface="Arial"/>
                        </a:rPr>
                        <a:t>Evidência gerada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T w="9525">
                      <a:solidFill>
                        <a:srgbClr val="CCDCD8"/>
                      </a:solidFill>
                      <a:prstDash val="solid"/>
                    </a:lnT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0B716D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Validar o lote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Pandera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Aceitação ou rejeição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Gerar previsões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Scikit-learn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Probabilidades e métricas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Comparar distribuições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Evidently AI + PSI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Relatório HTML e alertas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Rastrear a execução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MLflow + logs JSON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Versões, tempos e recursos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inco cenários: controle, inválido, drift mod">
            <a:extLst xmlns:a="http://schemas.openxmlformats.org/drawingml/2006/main">
              <a:ext uri="{FF2B5EF4-FFF2-40B4-BE49-F238E27FC236}">
                <a16:creationId xmlns:a16="http://schemas.microsoft.com/office/drawing/2014/main" id="{0C0F701F-2623-4D5A-9E6A-60CDE6C2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Cinco cenários: controle, inválido, drift moderado, severo e concept drift.</a:t>
            </a:r>
          </a:p>
        </p:txBody>
      </p:sp>
    </p:spTree>
    <p:extLst>
      <p:ext uri="{BB962C8B-B14F-4D97-AF65-F5344CB8AC3E}">
        <p14:creationId xmlns:p14="http://schemas.microsoft.com/office/powerpoint/2010/main" val="11695166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6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 • AÇÃO">
            <a:extLst xmlns:a="http://schemas.openxmlformats.org/drawingml/2006/main">
              <a:ext uri="{FF2B5EF4-FFF2-40B4-BE49-F238E27FC236}">
                <a16:creationId xmlns:a16="http://schemas.microsoft.com/office/drawing/2014/main" id="{C8D48AB7-AEE7-4111-9B2F-1B21DBA5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716D"/>
                </a:solidFill>
                <a:latin typeface="Arial"/>
                <a:ea typeface="Arial"/>
                <a:cs typeface="Arial"/>
              </a:rPr>
              <a:t>A • AÇÃO</a:t>
            </a:r>
          </a:p>
        </p:txBody>
      </p:sp>
      <p:sp>
        <p:nvSpPr>
          <p:cNvPr id="2" name="Base real, avaliação separada">
            <a:extLst xmlns:a="http://schemas.openxmlformats.org/drawingml/2006/main">
              <a:ext uri="{FF2B5EF4-FFF2-40B4-BE49-F238E27FC236}">
                <a16:creationId xmlns:a16="http://schemas.microsoft.com/office/drawing/2014/main" id="{31CCA65B-B2FF-4432-8945-20E75928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E39"/>
                </a:solidFill>
                <a:latin typeface="Arial"/>
                <a:ea typeface="Arial"/>
                <a:cs typeface="Arial"/>
              </a:rPr>
              <a:t>Base real, avaliação separada</a:t>
            </a:r>
          </a:p>
        </p:txBody>
      </p:sp>
      <p:sp>
        <p:nvSpPr>
          <p:cNvPr id="3" name="Ygor Martinelli   /   Tech Challenge Fase 4">
            <a:extLst xmlns:a="http://schemas.openxmlformats.org/drawingml/2006/main">
              <a:ext uri="{FF2B5EF4-FFF2-40B4-BE49-F238E27FC236}">
                <a16:creationId xmlns:a16="http://schemas.microsoft.com/office/drawing/2014/main" id="{EBF4584A-9127-45C1-9F03-91584DB7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Ygor Martinelli   /   Tech Challenge Fase 4</a:t>
            </a:r>
          </a:p>
        </p:txBody>
      </p:sp>
      <p:sp>
        <p:nvSpPr>
          <p:cNvPr id="4" name="03">
            <a:extLst xmlns:a="http://schemas.openxmlformats.org/drawingml/2006/main">
              <a:ext uri="{FF2B5EF4-FFF2-40B4-BE49-F238E27FC236}">
                <a16:creationId xmlns:a16="http://schemas.microsoft.com/office/drawing/2014/main" id="{237CC381-767E-4579-89BA-60E7A2FA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71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29.049">
            <a:extLst xmlns:a="http://schemas.openxmlformats.org/drawingml/2006/main">
              <a:ext uri="{FF2B5EF4-FFF2-40B4-BE49-F238E27FC236}">
                <a16:creationId xmlns:a16="http://schemas.microsoft.com/office/drawing/2014/main" id="{704C22FC-7852-4AB8-9AAC-2B10D42E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429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570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570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570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570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570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570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570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570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570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570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570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0B716D"/>
                </a:solidFill>
                <a:latin typeface="Arial"/>
                <a:ea typeface="Arial"/>
                <a:cs typeface="Arial"/>
              </a:rPr>
              <a:t>29.049</a:t>
            </a:r>
          </a:p>
        </p:txBody>
      </p:sp>
      <p:sp>
        <p:nvSpPr>
          <p:cNvPr id="6" name="registros após a auditoria">
            <a:extLst xmlns:a="http://schemas.openxmlformats.org/drawingml/2006/main">
              <a:ext uri="{FF2B5EF4-FFF2-40B4-BE49-F238E27FC236}">
                <a16:creationId xmlns:a16="http://schemas.microsoft.com/office/drawing/2014/main" id="{C969EBF4-737B-4FAF-8897-76F209B6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39"/>
                </a:solidFill>
                <a:latin typeface="Arial"/>
                <a:ea typeface="Arial"/>
                <a:cs typeface="Arial"/>
              </a:rPr>
              <a:t>registros após a auditoria</a:t>
            </a:r>
          </a:p>
        </p:txBody>
      </p:sp>
      <p:sp>
        <p:nvSpPr>
          <p:cNvPr id="7" name="30.000 originais da UCI&#10;951 registros em perf">
            <a:extLst xmlns:a="http://schemas.openxmlformats.org/drawingml/2006/main">
              <a:ext uri="{FF2B5EF4-FFF2-40B4-BE49-F238E27FC236}">
                <a16:creationId xmlns:a16="http://schemas.microsoft.com/office/drawing/2014/main" id="{B5B6D496-5E06-40D5-8C2B-A72B5899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43300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30.000 originais da UCI</a:t>
            </a:r>
          </a:p>
          <a:p xmlns:a="http://schemas.openxmlformats.org/drawingml/2006/main">
            <a:pPr>
              <a:buNone/>
              <a:defRPr sz="1875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951 registros em perfis duplicados excluídos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28C88-7C42-49DB-95DF-ACD5F362B163}"/>
              </a:ext>
            </a:extLst>
          </p:cNvPr>
          <p:cNvGraphicFramePr/>
          <p:nvPr/>
        </p:nvGraphicFramePr>
        <p:xfrm>
          <a:off xmlns:a="http://schemas.openxmlformats.org/drawingml/2006/main" x="6191250" y="1971675"/>
          <a:ext xmlns:a="http://schemas.openxmlformats.org/drawingml/2006/main" cx="5391150" cy="2438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429000"/>
                <a:gridCol w="1962150"/>
              </a:tblGrid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7FAF8"/>
                          </a:solidFill>
                          <a:latin typeface="Arial"/>
                          <a:ea typeface="Arial"/>
                          <a:cs typeface="Arial"/>
                        </a:rPr>
                        <a:t>Partição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T w="9525">
                      <a:solidFill>
                        <a:srgbClr val="CCDCD8"/>
                      </a:solidFill>
                      <a:prstDash val="solid"/>
                    </a:lnT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0B716D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7FAF8"/>
                          </a:solidFill>
                          <a:latin typeface="Arial"/>
                          <a:ea typeface="Arial"/>
                          <a:cs typeface="Arial"/>
                        </a:rPr>
                        <a:t>Registros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T w="9525">
                      <a:solidFill>
                        <a:srgbClr val="CCDCD8"/>
                      </a:solidFill>
                      <a:prstDash val="solid"/>
                    </a:lnT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0B716D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Treino / referência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17.429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Validação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5.810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Produção simulada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5.810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19 variáveis financeiras">
            <a:extLst xmlns:a="http://schemas.openxmlformats.org/drawingml/2006/main">
              <a:ext uri="{FF2B5EF4-FFF2-40B4-BE49-F238E27FC236}">
                <a16:creationId xmlns:a16="http://schemas.microsoft.com/office/drawing/2014/main" id="{2E9C972D-6D75-4DF6-B595-D6C4E95B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053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E39"/>
                </a:solidFill>
                <a:latin typeface="Arial"/>
                <a:ea typeface="Arial"/>
                <a:cs typeface="Arial"/>
              </a:rPr>
              <a:t>19 variáveis financeiras</a:t>
            </a:r>
          </a:p>
        </p:txBody>
      </p:sp>
      <p:sp>
        <p:nvSpPr>
          <p:cNvPr id="10" name="Sem ID, alvo ou atributos demográficos&#10;como e">
            <a:extLst xmlns:a="http://schemas.openxmlformats.org/drawingml/2006/main">
              <a:ext uri="{FF2B5EF4-FFF2-40B4-BE49-F238E27FC236}">
                <a16:creationId xmlns:a16="http://schemas.microsoft.com/office/drawing/2014/main" id="{E3A6F7B9-BEED-4DEC-A043-8BDEED3D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53050"/>
            <a:ext cx="5191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Sem ID, alvo ou atributos demográficos</a:t>
            </a:r>
          </a:p>
          <a:p xmlns:a="http://schemas.openxmlformats.org/drawingml/2006/main">
            <a: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como entradas do modelo.</a:t>
            </a:r>
          </a:p>
        </p:txBody>
      </p:sp>
      <p:sp>
        <p:nvSpPr>
          <p:cNvPr id="11" name="ROC-AUC  0,766">
            <a:extLst xmlns:a="http://schemas.openxmlformats.org/drawingml/2006/main">
              <a:ext uri="{FF2B5EF4-FFF2-40B4-BE49-F238E27FC236}">
                <a16:creationId xmlns:a16="http://schemas.microsoft.com/office/drawing/2014/main" id="{8A05C3AC-29C5-49CC-BC2F-F666CCE8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10125"/>
            <a:ext cx="5391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7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7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7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7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7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7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7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7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7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7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B716D"/>
                </a:solidFill>
                <a:latin typeface="Arial"/>
                <a:ea typeface="Arial"/>
                <a:cs typeface="Arial"/>
              </a:rPr>
              <a:t>ROC-AUC  0,766</a:t>
            </a:r>
          </a:p>
        </p:txBody>
      </p:sp>
      <p:sp>
        <p:nvSpPr>
          <p:cNvPr id="12" name="PR-AUC 0,525     Recall 0,364&#10;Validação, limi">
            <a:extLst xmlns:a="http://schemas.openxmlformats.org/drawingml/2006/main">
              <a:ext uri="{FF2B5EF4-FFF2-40B4-BE49-F238E27FC236}">
                <a16:creationId xmlns:a16="http://schemas.microsoft.com/office/drawing/2014/main" id="{90EC7200-83A3-417F-BC81-619603BF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53050"/>
            <a:ext cx="5391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PR-AUC 0,525     Recall 0,364</a:t>
            </a:r>
          </a:p>
          <a:p xmlns:a="http://schemas.openxmlformats.org/drawingml/2006/main">
            <a:pPr>
              <a:buNone/>
              <a:defRPr sz="18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Validação, limiar de decisão 0,5</a:t>
            </a:r>
          </a:p>
        </p:txBody>
      </p:sp>
    </p:spTree>
    <p:extLst>
      <p:ext uri="{BB962C8B-B14F-4D97-AF65-F5344CB8AC3E}">
        <p14:creationId xmlns:p14="http://schemas.microsoft.com/office/powerpoint/2010/main" val="3193768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A • AÇÃO">
            <a:extLst xmlns:a="http://schemas.openxmlformats.org/drawingml/2006/main">
              <a:ext uri="{FF2B5EF4-FFF2-40B4-BE49-F238E27FC236}">
                <a16:creationId xmlns:a16="http://schemas.microsoft.com/office/drawing/2014/main" id="{77F991E4-F954-4D81-B78F-9F9C7135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A • AÇÃO</a:t>
            </a:r>
          </a:p>
        </p:txBody>
      </p:sp>
      <p:sp>
        <p:nvSpPr>
          <p:cNvPr id="2" name="O contrato bloqueou o lote inválido">
            <a:extLst xmlns:a="http://schemas.openxmlformats.org/drawingml/2006/main">
              <a:ext uri="{FF2B5EF4-FFF2-40B4-BE49-F238E27FC236}">
                <a16:creationId xmlns:a16="http://schemas.microsoft.com/office/drawing/2014/main" id="{E0654816-869C-4CF8-904E-B0ED2719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Lote válido: 5.810 predições concluídas</a:t>
            </a:r>
          </a:p>
        </p:txBody>
      </p:sp>
      <p:sp>
        <p:nvSpPr>
          <p:cNvPr id="3" name="Ygor Martinelli   /   Tech Challenge Fase 4">
            <a:extLst xmlns:a="http://schemas.openxmlformats.org/drawingml/2006/main">
              <a:ext uri="{FF2B5EF4-FFF2-40B4-BE49-F238E27FC236}">
                <a16:creationId xmlns:a16="http://schemas.microsoft.com/office/drawing/2014/main" id="{EE41C5F9-B705-4752-8E0E-60EE9375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FD2"/>
                </a:solidFill>
                <a:latin typeface="Arial"/>
                <a:ea typeface="Arial"/>
                <a:cs typeface="Arial"/>
              </a:rPr>
              <a:t>Ygor Martinelli   /   Tech Challenge Fase 4</a:t>
            </a:r>
          </a:p>
        </p:txBody>
      </p:sp>
      <p:sp>
        <p:nvSpPr>
          <p:cNvPr id="4" name="04">
            <a:extLst xmlns:a="http://schemas.openxmlformats.org/drawingml/2006/main">
              <a:ext uri="{FF2B5EF4-FFF2-40B4-BE49-F238E27FC236}">
                <a16:creationId xmlns:a16="http://schemas.microsoft.com/office/drawing/2014/main" id="{AAA044B3-B69F-439B-972A-4DA508C0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5.810">
            <a:extLst xmlns:a="http://schemas.openxmlformats.org/drawingml/2006/main">
              <a:ext uri="{FF2B5EF4-FFF2-40B4-BE49-F238E27FC236}">
                <a16:creationId xmlns:a16="http://schemas.microsoft.com/office/drawing/2014/main" id="{D6F7E0A3-BD9F-4E4F-9770-96EDEF11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4572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58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58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58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58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58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58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58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58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58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58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58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5.810</a:t>
            </a:r>
          </a:p>
        </p:txBody>
      </p:sp>
      <p:sp>
        <p:nvSpPr>
          <p:cNvPr id="6" name="registros rejeitados">
            <a:extLst xmlns:a="http://schemas.openxmlformats.org/drawingml/2006/main">
              <a:ext uri="{FF2B5EF4-FFF2-40B4-BE49-F238E27FC236}">
                <a16:creationId xmlns:a16="http://schemas.microsoft.com/office/drawing/2014/main" id="{74CC988F-1249-4C4E-A97A-2DAAB9EE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24175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7FAF8"/>
                </a:solidFill>
                <a:latin typeface="Arial"/>
                <a:ea typeface="Arial"/>
                <a:cs typeface="Arial"/>
              </a:rPr>
              <a:t>predições concluídas</a:t>
            </a:r>
          </a:p>
        </p:txBody>
      </p:sp>
      <p:sp>
        <p:nvSpPr>
          <p:cNvPr id="7" name="0 predições">
            <a:extLst xmlns:a="http://schemas.openxmlformats.org/drawingml/2006/main">
              <a:ext uri="{FF2B5EF4-FFF2-40B4-BE49-F238E27FC236}">
                <a16:creationId xmlns:a16="http://schemas.microsoft.com/office/drawing/2014/main" id="{C0F70A64-2BCE-4C72-8BF1-EF2C118A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314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ROC-AUC</a:t>
            </a:r>
          </a:p>
          <a:p xmlns:a="http://schemas.openxmlformats.org/drawingml/2006/main">
            <a: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0,771</a:t>
            </a:r>
          </a:p>
        </p:txBody>
      </p:sp>
      <p:sp>
        <p:nvSpPr>
          <p:cNvPr id="8" name="ID único e positivo&#10;Idade entre 18 e 120 anos">
            <a:extLst xmlns:a="http://schemas.openxmlformats.org/drawingml/2006/main">
              <a:ext uri="{FF2B5EF4-FFF2-40B4-BE49-F238E27FC236}">
                <a16:creationId xmlns:a16="http://schemas.microsoft.com/office/drawing/2014/main" id="{AB22F9BB-621E-4711-A45A-D3309C4E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95875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9CFD2"/>
                </a:solidFill>
                <a:latin typeface="Arial"/>
                <a:ea typeface="Arial"/>
                <a:cs typeface="Arial"/>
              </a:rPr>
              <a:t>0 registros rejeitados</a:t>
            </a:r>
          </a:p>
          <a:p xmlns:a="http://schemas.openxmlformats.org/drawingml/2006/main">
            <a:pPr>
              <a:buNone/>
              <a:defRPr sz="18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9CFD2"/>
                </a:solidFill>
                <a:latin typeface="Arial"/>
                <a:ea typeface="Arial"/>
                <a:cs typeface="Arial"/>
              </a:rPr>
              <a:t>0 alertas de drift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6DD296-3A44-4FAB-BD55-2DF11370FC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7aa3f4bdf44801"/>
          <a:srcRect xmlns:a="http://schemas.openxmlformats.org/drawingml/2006/main" l="15470" t="0" r="0" b="26670"/>
          <a:stretch xmlns:a="http://schemas.openxmlformats.org/drawingml/2006/main"/>
        </p:blipFill>
        <p:spPr>
          <a:xfrm xmlns:a="http://schemas.openxmlformats.org/drawingml/2006/main">
            <a:off x="4038600" y="1876425"/>
            <a:ext cx="7543800" cy="3943350"/>
          </a:xfrm>
          <a:prstGeom xmlns:a="http://schemas.openxmlformats.org/drawingml/2006/main" prst="rect">
            <a:avLst/>
          </a:prstGeom>
        </p:spPr>
      </p:pic>
      <p:sp>
        <p:nvSpPr>
          <p:cNvPr id="10" name="“Failed” é o resultado esperado da rejeição.">
            <a:extLst xmlns:a="http://schemas.openxmlformats.org/drawingml/2006/main">
              <a:ext uri="{FF2B5EF4-FFF2-40B4-BE49-F238E27FC236}">
                <a16:creationId xmlns:a16="http://schemas.microsoft.com/office/drawing/2014/main" id="{1E99D4F7-25AB-42F0-8CE4-D8FC41C5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83E3CD"/>
                </a:solidFill>
                <a:latin typeface="Arial"/>
                <a:ea typeface="Arial"/>
                <a:cs typeface="Arial"/>
              </a:rPr>
              <a:t>Teste separado: erros propositais bloqueiam o lote inválido.</a:t>
            </a:r>
          </a:p>
        </p:txBody>
      </p:sp>
    </p:spTree>
    <p:extLst>
      <p:ext uri="{BB962C8B-B14F-4D97-AF65-F5344CB8AC3E}">
        <p14:creationId xmlns:p14="http://schemas.microsoft.com/office/powerpoint/2010/main" val="16450302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 • AÇÃO">
            <a:extLst xmlns:a="http://schemas.openxmlformats.org/drawingml/2006/main">
              <a:ext uri="{FF2B5EF4-FFF2-40B4-BE49-F238E27FC236}">
                <a16:creationId xmlns:a16="http://schemas.microsoft.com/office/drawing/2014/main" id="{B8E49EC7-DD76-4510-8B92-0FF77D0D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A • AÇÃO</a:t>
            </a:r>
          </a:p>
        </p:txBody>
      </p:sp>
      <p:sp>
        <p:nvSpPr>
          <p:cNvPr id="2" name="Evidently identificou as duas mudanças">
            <a:extLst xmlns:a="http://schemas.openxmlformats.org/drawingml/2006/main">
              <a:ext uri="{FF2B5EF4-FFF2-40B4-BE49-F238E27FC236}">
                <a16:creationId xmlns:a16="http://schemas.microsoft.com/office/drawing/2014/main" id="{FD95C799-9D80-465F-97FE-8DA9667C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Evidently identificou as duas mudanças</a:t>
            </a:r>
          </a:p>
        </p:txBody>
      </p:sp>
      <p:sp>
        <p:nvSpPr>
          <p:cNvPr id="3" name="Ygor Martinelli   /   Tech Challenge Fase 4">
            <a:extLst xmlns:a="http://schemas.openxmlformats.org/drawingml/2006/main">
              <a:ext uri="{FF2B5EF4-FFF2-40B4-BE49-F238E27FC236}">
                <a16:creationId xmlns:a16="http://schemas.microsoft.com/office/drawing/2014/main" id="{DF66BB0D-E589-47B2-BD20-BA321F62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FD2"/>
                </a:solidFill>
                <a:latin typeface="Arial"/>
                <a:ea typeface="Arial"/>
                <a:cs typeface="Arial"/>
              </a:rPr>
              <a:t>Ygor Martinelli   /   Tech Challenge Fase 4</a:t>
            </a:r>
          </a:p>
        </p:txBody>
      </p:sp>
      <p:sp>
        <p:nvSpPr>
          <p:cNvPr id="4" name="05">
            <a:extLst xmlns:a="http://schemas.openxmlformats.org/drawingml/2006/main">
              <a:ext uri="{FF2B5EF4-FFF2-40B4-BE49-F238E27FC236}">
                <a16:creationId xmlns:a16="http://schemas.microsoft.com/office/drawing/2014/main" id="{08231C0A-E3DA-47F6-9336-D3017AA4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Cenário severo simulado">
            <a:extLst xmlns:a="http://schemas.openxmlformats.org/drawingml/2006/main">
              <a:ext uri="{FF2B5EF4-FFF2-40B4-BE49-F238E27FC236}">
                <a16:creationId xmlns:a16="http://schemas.microsoft.com/office/drawing/2014/main" id="{1093BA46-1846-4264-A76B-3000D241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Cenário severo simulado</a:t>
            </a:r>
          </a:p>
        </p:txBody>
      </p:sp>
      <p:sp>
        <p:nvSpPr>
          <p:cNvPr id="6" name="PSI: limiar 0,20">
            <a:extLst xmlns:a="http://schemas.openxmlformats.org/drawingml/2006/main">
              <a:ext uri="{FF2B5EF4-FFF2-40B4-BE49-F238E27FC236}">
                <a16:creationId xmlns:a16="http://schemas.microsoft.com/office/drawing/2014/main" id="{F64B83AF-58C2-4D72-8A11-6E5E9BCE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85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9CFD2"/>
                </a:solidFill>
                <a:latin typeface="Arial"/>
                <a:ea typeface="Arial"/>
                <a:cs typeface="Arial"/>
              </a:rPr>
              <a:t>PSI: limiar 0,20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F1621-3826-4C4E-B22A-5F033C8F26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41253e6624107"/>
          <a:srcRect xmlns:a="http://schemas.openxmlformats.org/drawingml/2006/main" l="2500" t="29700" r="2500" b="48600"/>
          <a:stretch xmlns:a="http://schemas.openxmlformats.org/drawingml/2006/main"/>
        </p:blipFill>
        <p:spPr>
          <a:xfrm xmlns:a="http://schemas.openxmlformats.org/drawingml/2006/main">
            <a:off x="609600" y="2447925"/>
            <a:ext cx="10972800" cy="3067050"/>
          </a:xfrm>
          <a:prstGeom xmlns:a="http://schemas.openxmlformats.org/drawingml/2006/main" prst="rect">
            <a:avLst/>
          </a:prstGeom>
        </p:spPr>
      </p:pic>
      <p:sp>
        <p:nvSpPr>
          <p:cNvPr id="8" name="pay_0   PSI 9,259">
            <a:extLst xmlns:a="http://schemas.openxmlformats.org/drawingml/2006/main">
              <a:ext uri="{FF2B5EF4-FFF2-40B4-BE49-F238E27FC236}">
                <a16:creationId xmlns:a16="http://schemas.microsoft.com/office/drawing/2014/main" id="{83BF209A-355F-420B-A74D-2CBCECC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5095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pay_0   PSI 9,259</a:t>
            </a:r>
          </a:p>
        </p:txBody>
      </p:sp>
      <p:sp>
        <p:nvSpPr>
          <p:cNvPr id="9" name="limit_bal   PSI 2,677">
            <a:extLst xmlns:a="http://schemas.openxmlformats.org/drawingml/2006/main">
              <a:ext uri="{FF2B5EF4-FFF2-40B4-BE49-F238E27FC236}">
                <a16:creationId xmlns:a16="http://schemas.microsoft.com/office/drawing/2014/main" id="{C96E0C92-373F-4667-A16E-06C883AD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38800"/>
            <a:ext cx="5295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limit_bal   PSI 2,677</a:t>
            </a:r>
          </a:p>
        </p:txBody>
      </p:sp>
    </p:spTree>
    <p:extLst>
      <p:ext uri="{BB962C8B-B14F-4D97-AF65-F5344CB8AC3E}">
        <p14:creationId xmlns:p14="http://schemas.microsoft.com/office/powerpoint/2010/main" val="12676757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2F6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 • RESULTADO">
            <a:extLst xmlns:a="http://schemas.openxmlformats.org/drawingml/2006/main">
              <a:ext uri="{FF2B5EF4-FFF2-40B4-BE49-F238E27FC236}">
                <a16:creationId xmlns:a16="http://schemas.microsoft.com/office/drawing/2014/main" id="{B9890779-9B82-4C29-A47C-4BA3E4F4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716D"/>
                </a:solidFill>
                <a:latin typeface="Arial"/>
                <a:ea typeface="Arial"/>
                <a:cs typeface="Arial"/>
              </a:rPr>
              <a:t>R • RESULTADO</a:t>
            </a:r>
          </a:p>
        </p:txBody>
      </p:sp>
      <p:sp>
        <p:nvSpPr>
          <p:cNvPr id="2" name="A performance caiu com as mesmas entradas">
            <a:extLst xmlns:a="http://schemas.openxmlformats.org/drawingml/2006/main">
              <a:ext uri="{FF2B5EF4-FFF2-40B4-BE49-F238E27FC236}">
                <a16:creationId xmlns:a16="http://schemas.microsoft.com/office/drawing/2014/main" id="{29E2CE40-13FE-49CC-BBA5-153706C8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E3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E39"/>
                </a:solidFill>
                <a:latin typeface="Arial"/>
                <a:ea typeface="Arial"/>
                <a:cs typeface="Arial"/>
              </a:rPr>
              <a:t>A performance caiu com as mesmas entradas</a:t>
            </a:r>
          </a:p>
        </p:txBody>
      </p:sp>
      <p:sp>
        <p:nvSpPr>
          <p:cNvPr id="3" name="Ygor Martinelli   /   Tech Challenge Fase 4">
            <a:extLst xmlns:a="http://schemas.openxmlformats.org/drawingml/2006/main">
              <a:ext uri="{FF2B5EF4-FFF2-40B4-BE49-F238E27FC236}">
                <a16:creationId xmlns:a16="http://schemas.microsoft.com/office/drawing/2014/main" id="{CE0A380E-9D6A-456A-B941-86B67D2F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Ygor Martinelli   /   Tech Challenge Fase 4</a:t>
            </a:r>
          </a:p>
        </p:txBody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8330D5CC-BB3D-4529-876C-24BDAE85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71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SIMULAÇÃO DE CONCEPT DRIFT">
            <a:extLst xmlns:a="http://schemas.openxmlformats.org/drawingml/2006/main">
              <a:ext uri="{FF2B5EF4-FFF2-40B4-BE49-F238E27FC236}">
                <a16:creationId xmlns:a16="http://schemas.microsoft.com/office/drawing/2014/main" id="{BA504AB6-81F1-432D-A254-37BDE868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716D"/>
                </a:solidFill>
                <a:latin typeface="Arial"/>
                <a:ea typeface="Arial"/>
                <a:cs typeface="Arial"/>
              </a:rPr>
              <a:t>SIMULAÇÃO DE CONCEPT DRIFT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B82E7-EF78-4E97-8685-8B8CFB41E881}"/>
              </a:ext>
            </a:extLst>
          </p:cNvPr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5486400"/>
                <a:gridCol w="2381250"/>
                <a:gridCol w="3105150"/>
              </a:tblGrid>
              <a:tr h="723900"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7FAF8"/>
                          </a:solidFill>
                          <a:latin typeface="Arial"/>
                          <a:ea typeface="Arial"/>
                          <a:cs typeface="Arial"/>
                        </a:rPr>
                        <a:t>Cenário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T w="9525">
                      <a:solidFill>
                        <a:srgbClr val="CCDCD8"/>
                      </a:solidFill>
                      <a:prstDash val="solid"/>
                    </a:lnT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0B716D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7FAF8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T w="9525">
                      <a:solidFill>
                        <a:srgbClr val="CCDCD8"/>
                      </a:solidFill>
                      <a:prstDash val="solid"/>
                    </a:lnT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0B716D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1">
                          <a:solidFill>
                            <a:srgbClr val="F7FAF8"/>
                          </a:solidFill>
                          <a:latin typeface="Arial"/>
                          <a:ea typeface="Arial"/>
                          <a:cs typeface="Arial"/>
                        </a:rPr>
                        <a:t>Alertas de drift em X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T w="9525">
                      <a:solidFill>
                        <a:srgbClr val="CCDCD8"/>
                      </a:solidFill>
                      <a:prstDash val="solid"/>
                    </a:lnT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0B716D"/>
                    </a:solidFill>
                  </a:tcPr>
                </a:tc>
              </a:tr>
              <a:tr h="723900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Controle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0,771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Concept drift simulado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CD8"/>
                      </a:solidFill>
                      <a:prstDash val="solid"/>
                    </a:lnL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0,491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00" b="0">
                          <a:solidFill>
                            <a:srgbClr val="102E39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CD8"/>
                      </a:solidFill>
                      <a:prstDash val="solid"/>
                    </a:lnR>
                    <a:lnB w="9525">
                      <a:solidFill>
                        <a:srgbClr val="CCDC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Queda de 0,280">
            <a:extLst xmlns:a="http://schemas.openxmlformats.org/drawingml/2006/main">
              <a:ext uri="{FF2B5EF4-FFF2-40B4-BE49-F238E27FC236}">
                <a16:creationId xmlns:a16="http://schemas.microsoft.com/office/drawing/2014/main" id="{F136A7D9-CEF5-4AE9-99AE-F54DAF3D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561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75" b="1">
                <a:solidFill>
                  <a:srgbClr val="0B716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B716D"/>
                </a:solidFill>
                <a:latin typeface="Arial"/>
                <a:ea typeface="Arial"/>
                <a:cs typeface="Arial"/>
              </a:rPr>
              <a:t>Queda de 0,280</a:t>
            </a:r>
          </a:p>
        </p:txBody>
      </p:sp>
      <p:sp>
        <p:nvSpPr>
          <p:cNvPr id="8" name="O monitor de desempenho acionou o alerta.">
            <a:extLst xmlns:a="http://schemas.openxmlformats.org/drawingml/2006/main">
              <a:ext uri="{FF2B5EF4-FFF2-40B4-BE49-F238E27FC236}">
                <a16:creationId xmlns:a16="http://schemas.microsoft.com/office/drawing/2014/main" id="{1DCE74FA-70FB-4B65-84B0-2C0DB2B3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02E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E39"/>
                </a:solidFill>
                <a:latin typeface="Arial"/>
                <a:ea typeface="Arial"/>
                <a:cs typeface="Arial"/>
              </a:rPr>
              <a:t>O monitor de desempenho acionou o alerta.</a:t>
            </a:r>
          </a:p>
        </p:txBody>
      </p:sp>
      <p:sp>
        <p:nvSpPr>
          <p:cNvPr id="9" name="Rótulos alterados apenas&#10;na cópia de simulaçã">
            <a:extLst xmlns:a="http://schemas.openxmlformats.org/drawingml/2006/main">
              <a:ext uri="{FF2B5EF4-FFF2-40B4-BE49-F238E27FC236}">
                <a16:creationId xmlns:a16="http://schemas.microsoft.com/office/drawing/2014/main" id="{BB4ED4FC-67C7-4585-B9D7-348E0A3F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19700"/>
            <a:ext cx="4057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Rótulos alterados apenas</a:t>
            </a:r>
          </a:p>
          <a:p xmlns:a="http://schemas.openxmlformats.org/drawingml/2006/main">
            <a:pPr>
              <a:buNone/>
              <a:defRPr sz="1950" b="0">
                <a:solidFill>
                  <a:srgbClr val="526B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2"/>
                </a:solidFill>
                <a:latin typeface="Arial"/>
                <a:ea typeface="Arial"/>
                <a:cs typeface="Arial"/>
              </a:rPr>
              <a:t>na cópia de simulação.</a:t>
            </a:r>
          </a:p>
        </p:txBody>
      </p:sp>
    </p:spTree>
    <p:extLst>
      <p:ext uri="{BB962C8B-B14F-4D97-AF65-F5344CB8AC3E}">
        <p14:creationId xmlns:p14="http://schemas.microsoft.com/office/powerpoint/2010/main" val="15447126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 • RESULTADO">
            <a:extLst xmlns:a="http://schemas.openxmlformats.org/drawingml/2006/main">
              <a:ext uri="{FF2B5EF4-FFF2-40B4-BE49-F238E27FC236}">
                <a16:creationId xmlns:a16="http://schemas.microsoft.com/office/drawing/2014/main" id="{F5973D38-70FA-44E3-A14F-AD7615CC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R • RESULTADO</a:t>
            </a:r>
          </a:p>
        </p:txBody>
      </p:sp>
      <p:sp>
        <p:nvSpPr>
          <p:cNvPr id="2" name="Código validado na main">
            <a:extLst xmlns:a="http://schemas.openxmlformats.org/drawingml/2006/main">
              <a:ext uri="{FF2B5EF4-FFF2-40B4-BE49-F238E27FC236}">
                <a16:creationId xmlns:a16="http://schemas.microsoft.com/office/drawing/2014/main" id="{84D59475-A2D2-4291-BBCE-1C25E3271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Código validado na main</a:t>
            </a:r>
          </a:p>
        </p:txBody>
      </p:sp>
      <p:sp>
        <p:nvSpPr>
          <p:cNvPr id="3" name="Ygor Martinelli   /   Tech Challenge Fase 4">
            <a:extLst xmlns:a="http://schemas.openxmlformats.org/drawingml/2006/main">
              <a:ext uri="{FF2B5EF4-FFF2-40B4-BE49-F238E27FC236}">
                <a16:creationId xmlns:a16="http://schemas.microsoft.com/office/drawing/2014/main" id="{B9153A5F-A303-4D16-BF22-1E50A815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FD2"/>
                </a:solidFill>
                <a:latin typeface="Arial"/>
                <a:ea typeface="Arial"/>
                <a:cs typeface="Arial"/>
              </a:rPr>
              <a:t>Ygor Martinelli   /   Tech Challenge Fase 4</a:t>
            </a:r>
          </a:p>
        </p:txBody>
      </p:sp>
      <p:sp>
        <p:nvSpPr>
          <p:cNvPr id="4" name="07">
            <a:extLst xmlns:a="http://schemas.openxmlformats.org/drawingml/2006/main">
              <a:ext uri="{FF2B5EF4-FFF2-40B4-BE49-F238E27FC236}">
                <a16:creationId xmlns:a16="http://schemas.microsoft.com/office/drawing/2014/main" id="{E11E749E-4366-468F-B3DD-77F9A3C8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924E9F-74ED-49B6-9F9A-8E550A28CF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51892adfa44427"/>
          <a:srcRect xmlns:a="http://schemas.openxmlformats.org/drawingml/2006/main" l="0" t="23500" r="0" b="8500"/>
          <a:stretch xmlns:a="http://schemas.openxmlformats.org/drawingml/2006/main"/>
        </p:blipFill>
        <p:spPr>
          <a:xfrm xmlns:a="http://schemas.openxmlformats.org/drawingml/2006/main">
            <a:off x="609600" y="1857375"/>
            <a:ext cx="10972800" cy="3990975"/>
          </a:xfrm>
          <a:prstGeom xmlns:a="http://schemas.openxmlformats.org/drawingml/2006/main" prst="rect">
            <a:avLst/>
          </a:prstGeom>
        </p:spPr>
      </p:pic>
      <p:sp>
        <p:nvSpPr>
          <p:cNvPr id="6" name="13 testes em cada sistema">
            <a:extLst xmlns:a="http://schemas.openxmlformats.org/drawingml/2006/main">
              <a:ext uri="{FF2B5EF4-FFF2-40B4-BE49-F238E27FC236}">
                <a16:creationId xmlns:a16="http://schemas.microsoft.com/office/drawing/2014/main" id="{1829571D-AA6C-4466-8397-C0C8F8F6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6286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13 testes em cada sistema</a:t>
            </a:r>
          </a:p>
        </p:txBody>
      </p:sp>
      <p:sp>
        <p:nvSpPr>
          <p:cNvPr id="7" name="Ubuntu e Windows">
            <a:extLst xmlns:a="http://schemas.openxmlformats.org/drawingml/2006/main">
              <a:ext uri="{FF2B5EF4-FFF2-40B4-BE49-F238E27FC236}">
                <a16:creationId xmlns:a16="http://schemas.microsoft.com/office/drawing/2014/main" id="{CEE48B8C-DC96-4D2A-ACC0-F00BD0BF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953125"/>
            <a:ext cx="37719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7FAF8"/>
                </a:solidFill>
                <a:latin typeface="Arial"/>
                <a:ea typeface="Arial"/>
                <a:cs typeface="Arial"/>
              </a:rPr>
              <a:t>Ubuntu e Windows</a:t>
            </a:r>
          </a:p>
        </p:txBody>
      </p:sp>
    </p:spTree>
    <p:extLst>
      <p:ext uri="{BB962C8B-B14F-4D97-AF65-F5344CB8AC3E}">
        <p14:creationId xmlns:p14="http://schemas.microsoft.com/office/powerpoint/2010/main" val="156261774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70401B-19AE-4851-974E-FCAB21B0C1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f9f90bb1a4566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 • RESULTADO E APRENDIZADOS">
            <a:extLst xmlns:a="http://schemas.openxmlformats.org/drawingml/2006/main">
              <a:ext uri="{FF2B5EF4-FFF2-40B4-BE49-F238E27FC236}">
                <a16:creationId xmlns:a16="http://schemas.microsoft.com/office/drawing/2014/main" id="{F34F07BC-3123-45BD-8967-5B7D8F18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R • RESULTADO E APRENDIZADOS</a:t>
            </a:r>
          </a:p>
        </p:txBody>
      </p:sp>
      <p:sp>
        <p:nvSpPr>
          <p:cNvPr id="3" name="Monitoramento com&#10;evidências verificáveis">
            <a:extLst xmlns:a="http://schemas.openxmlformats.org/drawingml/2006/main">
              <a:ext uri="{FF2B5EF4-FFF2-40B4-BE49-F238E27FC236}">
                <a16:creationId xmlns:a16="http://schemas.microsoft.com/office/drawing/2014/main" id="{044B0D3D-2740-4B72-8F37-F142F538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9525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Monitoramento com</a:t>
            </a:r>
          </a:p>
          <a:p xmlns:a="http://schemas.openxmlformats.org/drawingml/2006/main">
            <a:pPr>
              <a:buNone/>
              <a:defRPr sz="3900" b="1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7FAF8"/>
                </a:solidFill>
                <a:latin typeface="Arial"/>
                <a:ea typeface="Arial"/>
                <a:cs typeface="Arial"/>
              </a:rPr>
              <a:t>evidências verificáveis</a:t>
            </a:r>
          </a:p>
        </p:txBody>
      </p:sp>
      <p:sp>
        <p:nvSpPr>
          <p:cNvPr id="4" name="Qualidade do lote">
            <a:extLst xmlns:a="http://schemas.openxmlformats.org/drawingml/2006/main">
              <a:ext uri="{FF2B5EF4-FFF2-40B4-BE49-F238E27FC236}">
                <a16:creationId xmlns:a16="http://schemas.microsoft.com/office/drawing/2014/main" id="{E6CE6EBD-FF9F-430C-B05F-3279E9BB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Qualidade do lote</a:t>
            </a:r>
          </a:p>
        </p:txBody>
      </p:sp>
      <p:sp>
        <p:nvSpPr>
          <p:cNvPr id="5" name="Entradas inválidas param antes da predição.">
            <a:extLst xmlns:a="http://schemas.openxmlformats.org/drawingml/2006/main">
              <a:ext uri="{FF2B5EF4-FFF2-40B4-BE49-F238E27FC236}">
                <a16:creationId xmlns:a16="http://schemas.microsoft.com/office/drawing/2014/main" id="{11DCC644-13C4-4EA7-862A-56207B2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7FAF8"/>
                </a:solidFill>
                <a:latin typeface="Arial"/>
                <a:ea typeface="Arial"/>
                <a:cs typeface="Arial"/>
              </a:rPr>
              <a:t>Entradas inválidas param antes da predição.</a:t>
            </a:r>
          </a:p>
        </p:txBody>
      </p:sp>
      <p:sp>
        <p:nvSpPr>
          <p:cNvPr id="6" name="Distribuição e desempenho">
            <a:extLst xmlns:a="http://schemas.openxmlformats.org/drawingml/2006/main">
              <a:ext uri="{FF2B5EF4-FFF2-40B4-BE49-F238E27FC236}">
                <a16:creationId xmlns:a16="http://schemas.microsoft.com/office/drawing/2014/main" id="{5BB8748E-6BB5-4C2B-A1CD-A1FE093C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E3CD"/>
                </a:solidFill>
                <a:latin typeface="Arial"/>
                <a:ea typeface="Arial"/>
                <a:cs typeface="Arial"/>
              </a:rPr>
              <a:t>Distribuição e desempenho</a:t>
            </a:r>
          </a:p>
        </p:txBody>
      </p:sp>
      <p:sp>
        <p:nvSpPr>
          <p:cNvPr id="7" name="Sinais diferentes orientam a investigação.">
            <a:extLst xmlns:a="http://schemas.openxmlformats.org/drawingml/2006/main">
              <a:ext uri="{FF2B5EF4-FFF2-40B4-BE49-F238E27FC236}">
                <a16:creationId xmlns:a16="http://schemas.microsoft.com/office/drawing/2014/main" id="{407D25E1-B56D-490F-A895-991B454C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809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F7FAF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7FAF8"/>
                </a:solidFill>
                <a:latin typeface="Arial"/>
                <a:ea typeface="Arial"/>
                <a:cs typeface="Arial"/>
              </a:rPr>
              <a:t>Sinais diferentes orientam a investigação.</a:t>
            </a:r>
          </a:p>
        </p:txBody>
      </p:sp>
      <p:sp>
        <p:nvSpPr>
          <p:cNvPr id="8" name="Governança: minimização, auditoria por grupos">
            <a:extLst xmlns:a="http://schemas.openxmlformats.org/drawingml/2006/main">
              <a:ext uri="{FF2B5EF4-FFF2-40B4-BE49-F238E27FC236}">
                <a16:creationId xmlns:a16="http://schemas.microsoft.com/office/drawing/2014/main" id="{53135822-64EA-4648-BE0B-CEDAB784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66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9CFD2"/>
                </a:solidFill>
                <a:latin typeface="Arial"/>
                <a:ea typeface="Arial"/>
                <a:cs typeface="Arial"/>
              </a:rPr>
              <a:t>Governança: minimização, auditoria por grupos e revisão humana.</a:t>
            </a:r>
          </a:p>
          <a:p xmlns:a="http://schemas.openxmlformats.org/drawingml/2006/main">
            <a:pPr>
              <a:buNone/>
              <a:defRPr sz="1725" b="0">
                <a:solidFill>
                  <a:srgbClr val="B9CFD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9CFD2"/>
                </a:solidFill>
                <a:latin typeface="Arial"/>
                <a:ea typeface="Arial"/>
                <a:cs typeface="Arial"/>
              </a:rPr>
              <a:t>Base histórica de Taiwan exige validação antes de uso no Brasil.</a:t>
            </a:r>
          </a:p>
        </p:txBody>
      </p:sp>
      <p:sp>
        <p:nvSpPr>
          <p:cNvPr id="9" name="github.com/ygormartinelli/tech-challenge-fase">
            <a:extLst xmlns:a="http://schemas.openxmlformats.org/drawingml/2006/main">
              <a:ext uri="{FF2B5EF4-FFF2-40B4-BE49-F238E27FC236}">
                <a16:creationId xmlns:a16="http://schemas.microsoft.com/office/drawing/2014/main" id="{3ED999BE-0E8C-4DF0-8715-AD86B4D5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83E3C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83E3CD"/>
                </a:solidFill>
                <a:latin typeface="Arial"/>
                <a:ea typeface="Arial"/>
                <a:cs typeface="Arial"/>
              </a:rPr>
              <a:t>github.com/ygormartinelli/tech-challenge-fase-4</a:t>
            </a:r>
          </a:p>
        </p:txBody>
      </p:sp>
    </p:spTree>
    <p:extLst>
      <p:ext uri="{BB962C8B-B14F-4D97-AF65-F5344CB8AC3E}">
        <p14:creationId xmlns:p14="http://schemas.microsoft.com/office/powerpoint/2010/main" val="11473094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2026-10-28T18:11:29.2240000Z</dcterms:created>
  <dcterms:modified xsi:type="dcterms:W3CDTF">2026-10-28T18:11:29.2240000Z</dcterms:modified>
</coreProperties>
</file>