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a33b01ca464746" /><Relationship Type="http://schemas.openxmlformats.org/officeDocument/2006/relationships/extended-properties" Target="/docProps/app.xml" Id="R8569867c1dd24379" /><Relationship Type="http://schemas.openxmlformats.org/officeDocument/2006/relationships/officeDocument" Target="/ppt/presentation.xml" Id="R613da2b8148740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750c2c9f8741e7"/>
  </p:sldMasterIdLst>
  <p:notesMasterIdLst>
    <p:notesMasterId xmlns:r="http://schemas.openxmlformats.org/officeDocument/2006/relationships" r:id="R07ada17441394ca6"/>
  </p:notesMasterIdLst>
  <p:sldIdLst>
    <p:sldId xmlns:r="http://schemas.openxmlformats.org/officeDocument/2006/relationships" id="256" r:id="Rbe6a00d55dff4282"/>
    <p:sldId xmlns:r="http://schemas.openxmlformats.org/officeDocument/2006/relationships" id="257" r:id="R2561196e23894fc1"/>
    <p:sldId xmlns:r="http://schemas.openxmlformats.org/officeDocument/2006/relationships" id="258" r:id="R774c4e3342e8404b"/>
    <p:sldId xmlns:r="http://schemas.openxmlformats.org/officeDocument/2006/relationships" id="259" r:id="R0130e51a9f884daa"/>
    <p:sldId xmlns:r="http://schemas.openxmlformats.org/officeDocument/2006/relationships" id="260" r:id="R3ccda698e5764126"/>
    <p:sldId xmlns:r="http://schemas.openxmlformats.org/officeDocument/2006/relationships" id="261" r:id="R4979bccc63384f0a"/>
    <p:sldId xmlns:r="http://schemas.openxmlformats.org/officeDocument/2006/relationships" id="262" r:id="R16115eee40634c45"/>
    <p:sldId xmlns:r="http://schemas.openxmlformats.org/officeDocument/2006/relationships" id="263" r:id="R7c42d42478844c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c71b8b08154076" /><Relationship Type="http://schemas.openxmlformats.org/officeDocument/2006/relationships/slideMaster" Target="/ppt/slideMasters/slideMaster1.xml" Id="R46750c2c9f8741e7" /><Relationship Type="http://schemas.openxmlformats.org/officeDocument/2006/relationships/notesMaster" Target="/ppt/notesMasters/notesMaster1.xml" Id="R07ada17441394ca6" /><Relationship Type="http://schemas.openxmlformats.org/officeDocument/2006/relationships/presProps" Target="/ppt/presProps.xml" Id="Rfe35c9e246ee419d" /><Relationship Type="http://schemas.openxmlformats.org/officeDocument/2006/relationships/tableStyles" Target="/ppt/tableStyles.xml" Id="Rb0157565c60e4069" /><Relationship Type="http://schemas.openxmlformats.org/officeDocument/2006/relationships/slide" Target="/ppt/slides/slide1.xml" Id="Rbe6a00d55dff4282" /><Relationship Type="http://schemas.openxmlformats.org/officeDocument/2006/relationships/slide" Target="/ppt/slides/slide2.xml" Id="R2561196e23894fc1" /><Relationship Type="http://schemas.openxmlformats.org/officeDocument/2006/relationships/slide" Target="/ppt/slides/slide3.xml" Id="R774c4e3342e8404b" /><Relationship Type="http://schemas.openxmlformats.org/officeDocument/2006/relationships/slide" Target="/ppt/slides/slide4.xml" Id="R0130e51a9f884daa" /><Relationship Type="http://schemas.openxmlformats.org/officeDocument/2006/relationships/slide" Target="/ppt/slides/slide5.xml" Id="R3ccda698e5764126" /><Relationship Type="http://schemas.openxmlformats.org/officeDocument/2006/relationships/slide" Target="/ppt/slides/slide6.xml" Id="R4979bccc63384f0a" /><Relationship Type="http://schemas.openxmlformats.org/officeDocument/2006/relationships/slide" Target="/ppt/slides/slide7.xml" Id="R16115eee40634c45" /><Relationship Type="http://schemas.openxmlformats.org/officeDocument/2006/relationships/slide" Target="/ppt/slides/slide8.xml" Id="R7c42d42478844c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3c509e9d714e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f6db09c96d4047" /><Relationship Type="http://schemas.openxmlformats.org/officeDocument/2006/relationships/notesMaster" Target="/ppt/notesMasters/notesMaster1.xml" Id="R263a4aba0b8b44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183cfeac3d485d" /><Relationship Type="http://schemas.openxmlformats.org/officeDocument/2006/relationships/notesMaster" Target="/ppt/notesMasters/notesMaster1.xml" Id="R84b3fd00ffd24d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24dee3427842ca" /><Relationship Type="http://schemas.openxmlformats.org/officeDocument/2006/relationships/notesMaster" Target="/ppt/notesMasters/notesMaster1.xml" Id="Rffcf2919b752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9017294fc84914" /><Relationship Type="http://schemas.openxmlformats.org/officeDocument/2006/relationships/notesMaster" Target="/ppt/notesMasters/notesMaster1.xml" Id="Rd29a52c67445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8fad3e0ee4b89" /><Relationship Type="http://schemas.openxmlformats.org/officeDocument/2006/relationships/notesMaster" Target="/ppt/notesMasters/notesMaster1.xml" Id="Rdc98d8a3a47f48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7d3e58448b4a62" /><Relationship Type="http://schemas.openxmlformats.org/officeDocument/2006/relationships/notesMaster" Target="/ppt/notesMasters/notesMaster1.xml" Id="R33484984375a44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79a328275c4d16" /><Relationship Type="http://schemas.openxmlformats.org/officeDocument/2006/relationships/notesMaster" Target="/ppt/notesMasters/notesMaster1.xml" Id="Rcfbfafb3a5c349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99e4bed5aa4adf" /><Relationship Type="http://schemas.openxmlformats.org/officeDocument/2006/relationships/notesMaster" Target="/ppt/notesMasters/notesMaster1.xml" Id="R0c21d7dac3ae48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25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Um modelo de crédito pode continuar gerando previsões mesmo quando os dados estão errados ou o comportamento dos clientes muda. Na Fase 4, trabalhei na sustentação desse modelo: como perceber problemas, bloquear entradas inválidas e reunir evidências para investigar uma queda de desempenho. Vou apresentar o fluxo e os resultados dos cenários de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</a:t>
            </a:r>
          </a:p>
          <a:p xmlns:a="http://schemas.openxmlformats.org/drawingml/2006/main">
            <a:r>
              <a:t>Referência visual: Tech_Challenge_Fase3_STAR_Urgencia.pptx, apresentação pessoal da Fase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Organizei o pipeline em etapas com responsabilidades claras. O Pandera verifica o contrato antes da predição. O modelo do scikit-learn produz probabilidades. O Evidently compara a distribuição de cada variável com a referência. O MLflow e os logs registram o que aconteceu em cada execução. Para validar o comportamento, executei cinco cenários: controle, dados inválidos, drift moderado, drift severo e uma simulação de concept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https://github.com/ygormartinelli/tech-challenge-fase-4/blob/main/README.md</a:t>
            </a:r>
          </a:p>
          <a:p xmlns:a="http://schemas.openxmlformats.org/drawingml/2006/main">
            <a:r>
              <a:t>https://github.com/ygormartinelli/tech-challenge-fase-4/blob/main/docs/validacao.md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Usei a base pública Default of Credit Card Clients, da UCI, com trinta mil registros. A auditoria identificou 951 registros pertencentes a perfis financeiros duplicados. Excluí esse conjunto de forma conservadora para evitar sobreposição entre partições. Restaram 29.049 registros, separados em treino, validação e produção simulada. O modelo usa dezenove variáveis financeiras. Na validação, a regressão logística alcançou ROC-AUC de 0,766 e PR-AUC de 0,525. O recall de 0,364 mostra uma limitação importante no limiar escolhido. O objetivo aqui é demonstrar sustentação, sem afirmar prontidão para concessão de crédito.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https://github.com/ygormartinelli/tech-challenge-fase-4/blob/main/reports/evidence/audit.json</a:t>
            </a:r>
          </a:p>
          <a:p xmlns:a="http://schemas.openxmlformats.org/drawingml/2006/main">
            <a:r>
              <a:t>https://github.com/ygormartinelli/tech-challenge-fase-4/blob/main/reports/evidence/training.json</a:t>
            </a:r>
          </a:p>
          <a:p xmlns:a="http://schemas.openxmlformats.org/drawingml/2006/main">
            <a:r>
              <a:t>https://archive.ics.uci.edu/dataset/350/default+of+credit+card+clients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teste, o lote violou o contrato de dados. As regras incluem identificador único e positivo, faixa de idade válida e limite de crédito maior que zero, além de tipos, nulidade e outras restrições. O pipeline rejeitou o lote inteiro, com 5.810 registros, antes de gerar qualquer predição. O print mostra a execução invalid no MLflow com status Failed. Esse status é esperado: ele registra a rejeição controlada. Assim, uma entrada inválida fica rastreável e não avança silenciosamente pelo fluxo.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https://github.com/ygormartinelli/tech-challenge-fase-4/blob/main/reports/evidence/summary.json</a:t>
            </a:r>
          </a:p>
          <a:p xmlns:a="http://schemas.openxmlformats.org/drawingml/2006/main">
            <a:r>
              <a:t>https://github.com/ygormartinelli/tech-challenge-fase-4/blob/main/reports/evidence/mlflow-rejected.jpg</a:t>
            </a:r>
          </a:p>
          <a:p xmlns:a="http://schemas.openxmlformats.org/drawingml/2006/main">
            <a:r>
              <a:t>Print da execução local a060aa620fa2, run e7cc6483b67c418c9fc37aeef955171f. A reprodução independente documenta o mesmo comportamento com outros 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cenário severo, alterei de forma controlada o limite de crédito e o status de atraso. O Evidently detectou exatamente essas duas variáveis, entre as dezenove monitoradas. O recorte do relatório mostra o PSI de 9,259 em pay_0 e de 2,677 em limit_bal, acima do limiar de 0,20. O relatório completo está salvo em HTML. Também calculei o teste KS como análise complementar, com correção para múltiplas comparações. O cenário de controle não gerou alertas de drift. Esses resultados demonstram a resposta do monitor às mudanças simuladas, sem atribuir uma causa econômica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https://github.com/ygormartinelli/tech-challenge-fase-4/blob/main/reports/evidence/evidently-drift.jpg</a:t>
            </a:r>
          </a:p>
          <a:p xmlns:a="http://schemas.openxmlformats.org/drawingml/2006/main">
            <a:r>
              <a:t>https://github.com/ygormartinelli/tech-challenge-fase-4/blob/main/reports/evidence/drift_severe/evidently.html</a:t>
            </a:r>
          </a:p>
          <a:p xmlns:a="http://schemas.openxmlformats.org/drawingml/2006/main">
            <a:r>
              <a:t>https://github.com/ygormartinelli/tech-challenge-fase-4/blob/main/reports/evidence/summary.json</a:t>
            </a:r>
          </a:p>
          <a:p xmlns:a="http://schemas.openxmlformats.org/drawingml/2006/main">
            <a:r>
              <a:t>Print da execução local 155695f2ee9d. O recorte amplia somente o resumo e as duas primeiras linhas. Relatório completo preservado no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35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Para testar concept drift, mantive as entradas iguais às do controle e alterei os rótulos apenas em uma cópia de simulação, em um segmento definido pelas variáveis financeiras. Os rótulos originais foram preservados. Com isso, o monitor de distribuição continuou sem alertas, mas a ROC-AUC caiu de 0,771 para 0,491. A queda de 0,280 acionou o monitor de desempenho. O experimento mostra por que precisamos acompanhar resultados quando os rótulos chegam, além de monitorar as entradas.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https://github.com/ygormartinelli/tech-challenge-fase-4/blob/main/reports/evidence/summary.json</a:t>
            </a:r>
          </a:p>
          <a:p xmlns:a="http://schemas.openxmlformats.org/drawingml/2006/main">
            <a:r>
              <a:t>https://github.com/ygormartinelli/tech-challenge-fase-4/blob/main/docs/validacao.md</a:t>
            </a:r>
          </a:p>
          <a:p xmlns:a="http://schemas.openxmlformats.org/drawingml/2006/main">
            <a:r>
              <a:t>Simulação: probabilidade 0,8 de inverter rótulos no segmento pay_0 &lt;= 0 e bill_amt_1 acima da mediana da referência. Não representa mudança real observada.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implementação está integrada à main com o histórico de commits preservado. O print do GitHub Actions mostra a execução aprovada no commit 20bb848, tanto no Ubuntu quanto no Windows. Cada ambiente passou pelos treze testes, além das verificações de estilo. A reprodução independente também registrou hashes dos dados, do modelo e da configuração. Nos logs, cada etapa inclui status, duração, volume, CPU e memória. Isso permite relacionar uma evidência ao código e à execução que a produziram.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https://github.com/ygormartinelli/tech-challenge-fase-4/actions/runs/40738193953</a:t>
            </a:r>
          </a:p>
          <a:p xmlns:a="http://schemas.openxmlformats.org/drawingml/2006/main">
            <a:r>
              <a:t>https://github.com/ygormartinelli/tech-challenge-fase-4/commit/20bb84803073268c580a4b154ab59f9de5c0a89b</a:t>
            </a:r>
          </a:p>
          <a:p xmlns:a="http://schemas.openxmlformats.org/drawingml/2006/main">
            <a:r>
              <a:t>https://github.com/ygormartinelli/tech-challenge-fase-4/blob/main/docs/validacao.md</a:t>
            </a:r>
          </a:p>
          <a:p xmlns:a="http://schemas.openxmlformats.org/drawingml/2006/main">
            <a:r>
              <a:t>CI capturado em 28/10/2026. Reprodução independente: execução 4fcf49530f99, commit bc0ae1abc23914fcd294acedab9761193fd4ae41. O código funcional, configuração e testes são os mesmos do merge 20bb848.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principal aprendizado foi separar problemas de qualidade, mudanças de distribuição e perda de desempenho. Cada problema exige uma evidência e uma resposta diferente. Na governança, documentei minimização dos dados, auditoria por grupos e limites de uso. Excluir atributos demográficos do preditor não elimina possíveis vieses, porque outras variáveis podem funcionar como proxies. A base é histórica e de Taiwan, então aplicar o modelo no Brasil exigiria nova validação. Os alertas orientam investigação e revisão humana. O repositório reúne código, relatórios, testes e histórico para que os resultados possam ser conferidos.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</a:t>
            </a:r>
          </a:p>
          <a:p xmlns:a="http://schemas.openxmlformats.org/drawingml/2006/main">
            <a:r>
              <a:t>https://github.com/ygormartinelli/tech-challenge-fase-4/blob/main/README.md</a:t>
            </a:r>
          </a:p>
          <a:p xmlns:a="http://schemas.openxmlformats.org/drawingml/2006/main">
            <a:r>
              <a:t>https://github.com/ygormartinelli/tech-challenge-fase-4/blob/main/docs/validacao.md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33f911a1844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e1bf18b0d41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a4fe774d443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b11152bc145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7f7c3e8dd44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f075d65c448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5B1A62-861E-4B51-824A-74136E7C9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AB9B6F-3E2C-49CA-A960-FE60450E68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21EAB6-BEE0-4354-9F6B-F74040317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2D3372-F80D-4336-82A8-645F444CD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B360DF-F860-4E44-8927-52FC2D68D8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65F006-28B0-41C3-A879-374B482E38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6916CC-EA1A-4B73-825E-6F162C49BA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7C3C60-02AF-4B0B-88C8-69C7FAEA67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C025D8-D0C1-4477-9F13-DF67C9E559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6D19D1-AE16-4A08-8EAC-2E6D2A60C0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ac1bbf22f44ab" /><Relationship Type="http://schemas.openxmlformats.org/officeDocument/2006/relationships/slideLayout" Target="/ppt/slideLayouts/slideLayout1.xml" Id="R35abb339f3544c20" /><Relationship Type="http://schemas.openxmlformats.org/officeDocument/2006/relationships/slideLayout" Target="/ppt/slideLayouts/slideLayout2.xml" Id="Rd3a7bf0966704a3d" /><Relationship Type="http://schemas.openxmlformats.org/officeDocument/2006/relationships/slideLayout" Target="/ppt/slideLayouts/slideLayout3.xml" Id="R438519cdac424d50" /><Relationship Type="http://schemas.openxmlformats.org/officeDocument/2006/relationships/slideLayout" Target="/ppt/slideLayouts/slideLayout4.xml" Id="Rc4df9a4ad45f4849" /><Relationship Type="http://schemas.openxmlformats.org/officeDocument/2006/relationships/slideLayout" Target="/ppt/slideLayouts/slideLayout5.xml" Id="R12f2f706b3724a46" /><Relationship Type="http://schemas.openxmlformats.org/officeDocument/2006/relationships/slideLayout" Target="/ppt/slideLayouts/slideLayout6.xml" Id="Rcfe884eb77eb48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bb339f3544c20"/>
    <p:sldLayoutId xmlns:r="http://schemas.openxmlformats.org/officeDocument/2006/relationships" id="2147483650" r:id="Rd3a7bf0966704a3d"/>
    <p:sldLayoutId xmlns:r="http://schemas.openxmlformats.org/officeDocument/2006/relationships" id="2147483651" r:id="R438519cdac424d50"/>
    <p:sldLayoutId xmlns:r="http://schemas.openxmlformats.org/officeDocument/2006/relationships" id="2147483652" r:id="Rc4df9a4ad45f4849"/>
    <p:sldLayoutId xmlns:r="http://schemas.openxmlformats.org/officeDocument/2006/relationships" id="2147483653" r:id="R12f2f706b3724a46"/>
    <p:sldLayoutId xmlns:r="http://schemas.openxmlformats.org/officeDocument/2006/relationships" id="2147483654" r:id="Rcfe884eb77eb48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2c1441755d48d3" /><Relationship Type="http://schemas.openxmlformats.org/officeDocument/2006/relationships/image" Target="/ppt/media/image.png" Id="R14926db082224018" /><Relationship Type="http://schemas.openxmlformats.org/officeDocument/2006/relationships/notesSlide" Target="/ppt/notesSlides/notesSlide1.xml" Id="Rd87a480859b745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d1577946d4eeb" /><Relationship Type="http://schemas.openxmlformats.org/officeDocument/2006/relationships/notesSlide" Target="/ppt/notesSlides/notesSlide2.xml" Id="R2a3c797cb564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59d2da9b64031" /><Relationship Type="http://schemas.openxmlformats.org/officeDocument/2006/relationships/notesSlide" Target="/ppt/notesSlides/notesSlide3.xml" Id="R087e16a0ad5546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ed1a167214bed" /><Relationship Type="http://schemas.openxmlformats.org/officeDocument/2006/relationships/image" Target="/ppt/media/image.jpeg" Id="R340b065df318418a" /><Relationship Type="http://schemas.openxmlformats.org/officeDocument/2006/relationships/notesSlide" Target="/ppt/notesSlides/notesSlide4.xml" Id="Rd284d94d7e1640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a7e64d8e74526" /><Relationship Type="http://schemas.openxmlformats.org/officeDocument/2006/relationships/image" Target="/ppt/media/image2.jpeg" Id="Rf28634cf504d4980" /><Relationship Type="http://schemas.openxmlformats.org/officeDocument/2006/relationships/notesSlide" Target="/ppt/notesSlides/notesSlide5.xml" Id="R5829f0e79f2543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be9e767a6842a7" /><Relationship Type="http://schemas.openxmlformats.org/officeDocument/2006/relationships/notesSlide" Target="/ppt/notesSlides/notesSlide6.xml" Id="R5a5a4aba32534d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4b35954884cea" /><Relationship Type="http://schemas.openxmlformats.org/officeDocument/2006/relationships/image" Target="/ppt/media/image3.jpeg" Id="R4d1a5be9fc5d4434" /><Relationship Type="http://schemas.openxmlformats.org/officeDocument/2006/relationships/notesSlide" Target="/ppt/notesSlides/notesSlide7.xml" Id="R115717fc80ec40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45f40dcbe241d1" /><Relationship Type="http://schemas.openxmlformats.org/officeDocument/2006/relationships/image" Target="/ppt/media/image2.png" Id="Re2600bf5ce844cd9" /><Relationship Type="http://schemas.openxmlformats.org/officeDocument/2006/relationships/notesSlide" Target="/ppt/notesSlides/notesSlide8.xml" Id="Re6dcc6f6719e42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0018-9872-4D3A-B900-53C608F09B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26db08222401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CH CHALLENGE FASE 4">
            <a:extLst xmlns:a="http://schemas.openxmlformats.org/drawingml/2006/main">
              <a:ext uri="{FF2B5EF4-FFF2-40B4-BE49-F238E27FC236}">
                <a16:creationId xmlns:a16="http://schemas.microsoft.com/office/drawing/2014/main" id="{94D5928F-C247-401B-8DE5-189577F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TECH CHALLENGE FASE 4</a:t>
            </a:r>
          </a:p>
        </p:txBody>
      </p:sp>
      <p:sp>
        <p:nvSpPr>
          <p:cNvPr id="3" name="Monitoramento de&#10;modelos de crédito">
            <a:extLst xmlns:a="http://schemas.openxmlformats.org/drawingml/2006/main">
              <a:ext uri="{FF2B5EF4-FFF2-40B4-BE49-F238E27FC236}">
                <a16:creationId xmlns:a16="http://schemas.microsoft.com/office/drawing/2014/main" id="{D336A652-22B0-4D07-9E16-3FC7EE7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Monitoramento de</a:t>
            </a:r>
          </a:p>
          <a:p xmlns:a="http://schemas.openxmlformats.org/drawingml/2006/main">
            <a:pPr>
              <a:defRPr sz="45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modelos de crédito</a:t>
            </a:r>
          </a:p>
        </p:txBody>
      </p:sp>
      <p:sp>
        <p:nvSpPr>
          <p:cNvPr id="4" name="Como identificar dados inválidos e&#10;mudanças q">
            <a:extLst xmlns:a="http://schemas.openxmlformats.org/drawingml/2006/main">
              <a:ext uri="{FF2B5EF4-FFF2-40B4-BE49-F238E27FC236}">
                <a16:creationId xmlns:a16="http://schemas.microsoft.com/office/drawing/2014/main" id="{75E90193-9F06-4B6E-BA02-9B84AD1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Como identificar dados inválidos e</a:t>
            </a:r>
          </a:p>
          <a:p xmlns:a="http://schemas.openxmlformats.org/drawingml/2006/main">
            <a:pPr>
              <a:defRPr sz="225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mudanças que afetam as previsões</a:t>
            </a:r>
          </a:p>
        </p:txBody>
      </p:sp>
      <p:sp>
        <p:nvSpPr>
          <p:cNvPr id="5" name="Ygor Martinelli">
            <a:extLst xmlns:a="http://schemas.openxmlformats.org/drawingml/2006/main">
              <a:ext uri="{FF2B5EF4-FFF2-40B4-BE49-F238E27FC236}">
                <a16:creationId xmlns:a16="http://schemas.microsoft.com/office/drawing/2014/main" id="{304ECEEA-F5A7-419D-B918-10C018EA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Ygor Martinelli</a:t>
            </a:r>
          </a:p>
        </p:txBody>
      </p:sp>
      <p:sp>
        <p:nvSpPr>
          <p:cNvPr id="6" name="Sustentação de ML   /   Apresentação STAR">
            <a:extLst xmlns:a="http://schemas.openxmlformats.org/drawingml/2006/main">
              <a:ext uri="{FF2B5EF4-FFF2-40B4-BE49-F238E27FC236}">
                <a16:creationId xmlns:a16="http://schemas.microsoft.com/office/drawing/2014/main" id="{F05AB9AD-36D7-4727-8BFD-20F04062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3E3CD"/>
                </a:solidFill>
                <a:latin typeface="Arial"/>
                <a:ea typeface="Arial"/>
                <a:cs typeface="Arial"/>
              </a:rPr>
              <a:t>Sustentação de ML   /   Apresentação STAR</a:t>
            </a:r>
          </a:p>
        </p:txBody>
      </p:sp>
    </p:spTree>
    <p:extLst>
      <p:ext uri="{BB962C8B-B14F-4D97-AF65-F5344CB8AC3E}">
        <p14:creationId xmlns:p14="http://schemas.microsoft.com/office/powerpoint/2010/main" val="43818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 • TAREFA">
            <a:extLst xmlns:a="http://schemas.openxmlformats.org/drawingml/2006/main">
              <a:ext uri="{FF2B5EF4-FFF2-40B4-BE49-F238E27FC236}">
                <a16:creationId xmlns:a16="http://schemas.microsoft.com/office/drawing/2014/main" id="{2B5E0165-EBA6-44B9-8969-020D25E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T • TAREFA</a:t>
            </a:r>
          </a:p>
        </p:txBody>
      </p:sp>
      <p:sp>
        <p:nvSpPr>
          <p:cNvPr id="2" name="Cada etapa responde a um risco">
            <a:extLst xmlns:a="http://schemas.openxmlformats.org/drawingml/2006/main">
              <a:ext uri="{FF2B5EF4-FFF2-40B4-BE49-F238E27FC236}">
                <a16:creationId xmlns:a16="http://schemas.microsoft.com/office/drawing/2014/main" id="{6809544A-7EC8-4F94-BA8E-2EF324B8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39"/>
                </a:solidFill>
                <a:latin typeface="Arial"/>
                <a:ea typeface="Arial"/>
                <a:cs typeface="Arial"/>
              </a:rPr>
              <a:t>Cada etapa responde a um risco</a:t>
            </a:r>
          </a:p>
        </p:txBody>
      </p:sp>
      <p:sp>
        <p:nvSpPr>
          <p:cNvPr id="3" name="Ygor Martinelli   /   Tech Challenge Fase 4">
            <a:extLst xmlns:a="http://schemas.openxmlformats.org/drawingml/2006/main">
              <a:ext uri="{FF2B5EF4-FFF2-40B4-BE49-F238E27FC236}">
                <a16:creationId xmlns:a16="http://schemas.microsoft.com/office/drawing/2014/main" id="{E35B7BC6-5FAA-4FB2-B114-C187957D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Ygor Martinelli   /   Tech Challenge Fase 4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D7E41242-1589-4825-9A40-22FA6840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17325-9C0B-40C3-B9D9-1159CCD20406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3143250"/>
                <a:gridCol w="4733925"/>
              </a:tblGrid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Implementação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Evidência gerada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Validar o lote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Pandera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Aceitação ou rejeição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Gerar previsões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Scikit-learn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Probabilidades e métricas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Comparar distribuições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Evidently AI + PSI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Relatório HTML e alertas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Rastrear a execução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MLflow + logs 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Versões, tempos e recursos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inco cenários: controle, inválido, drift mod">
            <a:extLst xmlns:a="http://schemas.openxmlformats.org/drawingml/2006/main">
              <a:ext uri="{FF2B5EF4-FFF2-40B4-BE49-F238E27FC236}">
                <a16:creationId xmlns:a16="http://schemas.microsoft.com/office/drawing/2014/main" id="{0C0F701F-2623-4D5A-9E6A-60CDE6C2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Cinco cenários: controle, inválido, drift moderado, severo e concept drift.</a:t>
            </a:r>
          </a:p>
        </p:txBody>
      </p:sp>
    </p:spTree>
    <p:extLst>
      <p:ext uri="{BB962C8B-B14F-4D97-AF65-F5344CB8AC3E}">
        <p14:creationId xmlns:p14="http://schemas.microsoft.com/office/powerpoint/2010/main" val="1169516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 • AÇÃO">
            <a:extLst xmlns:a="http://schemas.openxmlformats.org/drawingml/2006/main">
              <a:ext uri="{FF2B5EF4-FFF2-40B4-BE49-F238E27FC236}">
                <a16:creationId xmlns:a16="http://schemas.microsoft.com/office/drawing/2014/main" id="{C8D48AB7-AEE7-4111-9B2F-1B21DBA5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A • AÇÃO</a:t>
            </a:r>
          </a:p>
        </p:txBody>
      </p:sp>
      <p:sp>
        <p:nvSpPr>
          <p:cNvPr id="2" name="Base real, avaliação separada">
            <a:extLst xmlns:a="http://schemas.openxmlformats.org/drawingml/2006/main">
              <a:ext uri="{FF2B5EF4-FFF2-40B4-BE49-F238E27FC236}">
                <a16:creationId xmlns:a16="http://schemas.microsoft.com/office/drawing/2014/main" id="{31CCA65B-B2FF-4432-8945-20E75928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39"/>
                </a:solidFill>
                <a:latin typeface="Arial"/>
                <a:ea typeface="Arial"/>
                <a:cs typeface="Arial"/>
              </a:rPr>
              <a:t>Base real, avaliação separada</a:t>
            </a:r>
          </a:p>
        </p:txBody>
      </p:sp>
      <p:sp>
        <p:nvSpPr>
          <p:cNvPr id="3" name="Ygor Martinelli   /   Tech Challenge Fase 4">
            <a:extLst xmlns:a="http://schemas.openxmlformats.org/drawingml/2006/main">
              <a:ext uri="{FF2B5EF4-FFF2-40B4-BE49-F238E27FC236}">
                <a16:creationId xmlns:a16="http://schemas.microsoft.com/office/drawing/2014/main" id="{EBF4584A-9127-45C1-9F03-91584DB7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Ygor Martinelli   /   Tech Challenge Fase 4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237CC381-767E-4579-89BA-60E7A2FA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29.049">
            <a:extLst xmlns:a="http://schemas.openxmlformats.org/drawingml/2006/main">
              <a:ext uri="{FF2B5EF4-FFF2-40B4-BE49-F238E27FC236}">
                <a16:creationId xmlns:a16="http://schemas.microsoft.com/office/drawing/2014/main" id="{704C22FC-7852-4AB8-9AAC-2B10D42E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29.049</a:t>
            </a:r>
          </a:p>
        </p:txBody>
      </p:sp>
      <p:sp>
        <p:nvSpPr>
          <p:cNvPr id="6" name="registros após a auditoria">
            <a:extLst xmlns:a="http://schemas.openxmlformats.org/drawingml/2006/main">
              <a:ext uri="{FF2B5EF4-FFF2-40B4-BE49-F238E27FC236}">
                <a16:creationId xmlns:a16="http://schemas.microsoft.com/office/drawing/2014/main" id="{C969EBF4-737B-4FAF-8897-76F209B6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E39"/>
                </a:solidFill>
                <a:latin typeface="Arial"/>
                <a:ea typeface="Arial"/>
                <a:cs typeface="Arial"/>
              </a:rPr>
              <a:t>registros após a auditoria</a:t>
            </a:r>
          </a:p>
        </p:txBody>
      </p:sp>
      <p:sp>
        <p:nvSpPr>
          <p:cNvPr id="7" name="30.000 originais da UCI&#10;951 registros em perf">
            <a:extLst xmlns:a="http://schemas.openxmlformats.org/drawingml/2006/main">
              <a:ext uri="{FF2B5EF4-FFF2-40B4-BE49-F238E27FC236}">
                <a16:creationId xmlns:a16="http://schemas.microsoft.com/office/drawing/2014/main" id="{B5B6D496-5E06-40D5-8C2B-A72B5899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30.000 originais da UCI</a:t>
            </a:r>
          </a:p>
          <a:p xmlns:a="http://schemas.openxmlformats.org/drawingml/2006/main">
            <a:pPr>
              <a:defRPr sz="1875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951 registros em perfis duplicados excluídos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2505C-A8F0-4128-9809-204CCCB6175F}"/>
              </a:ext>
            </a:extLst>
          </p:cNvPr>
          <p:cNvGraphicFramePr/>
          <p:nvPr/>
        </p:nvGraphicFramePr>
        <p:xfrm>
          <a:off xmlns:a="http://schemas.openxmlformats.org/drawingml/2006/main" x="6191250" y="1971675"/>
          <a:ext xmlns:a="http://schemas.openxmlformats.org/drawingml/2006/main" cx="5391150" cy="2438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1962150"/>
              </a:tblGrid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Partição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Registros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Treino / referência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17.429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5.810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Produção simulada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5.810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19 variáveis financeiras">
            <a:extLst xmlns:a="http://schemas.openxmlformats.org/drawingml/2006/main">
              <a:ext uri="{FF2B5EF4-FFF2-40B4-BE49-F238E27FC236}">
                <a16:creationId xmlns:a16="http://schemas.microsoft.com/office/drawing/2014/main" id="{2E9C972D-6D75-4DF6-B595-D6C4E95B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E39"/>
                </a:solidFill>
                <a:latin typeface="Arial"/>
                <a:ea typeface="Arial"/>
                <a:cs typeface="Arial"/>
              </a:rPr>
              <a:t>19 variáveis financeiras</a:t>
            </a:r>
          </a:p>
        </p:txBody>
      </p:sp>
      <p:sp>
        <p:nvSpPr>
          <p:cNvPr id="10" name="Sem ID, alvo ou atributos demográficos&#10;como e">
            <a:extLst xmlns:a="http://schemas.openxmlformats.org/drawingml/2006/main">
              <a:ext uri="{FF2B5EF4-FFF2-40B4-BE49-F238E27FC236}">
                <a16:creationId xmlns:a16="http://schemas.microsoft.com/office/drawing/2014/main" id="{E3A6F7B9-BEED-4DEC-A043-8BDEED3D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Sem ID, alvo ou atributos demográficos</a:t>
            </a:r>
          </a:p>
          <a:p xmlns:a="http://schemas.openxmlformats.org/drawingml/2006/main">
            <a: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como entradas do modelo.</a:t>
            </a:r>
          </a:p>
        </p:txBody>
      </p:sp>
      <p:sp>
        <p:nvSpPr>
          <p:cNvPr id="11" name="ROC-AUC  0,766">
            <a:extLst xmlns:a="http://schemas.openxmlformats.org/drawingml/2006/main">
              <a:ext uri="{FF2B5EF4-FFF2-40B4-BE49-F238E27FC236}">
                <a16:creationId xmlns:a16="http://schemas.microsoft.com/office/drawing/2014/main" id="{8A05C3AC-29C5-49CC-BC2F-F666CCE8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ROC-AUC  0,766</a:t>
            </a:r>
          </a:p>
        </p:txBody>
      </p:sp>
      <p:sp>
        <p:nvSpPr>
          <p:cNvPr id="12" name="PR-AUC 0,525     Recall 0,364&#10;Validação, limi">
            <a:extLst xmlns:a="http://schemas.openxmlformats.org/drawingml/2006/main">
              <a:ext uri="{FF2B5EF4-FFF2-40B4-BE49-F238E27FC236}">
                <a16:creationId xmlns:a16="http://schemas.microsoft.com/office/drawing/2014/main" id="{90EC7200-83A3-417F-BC81-619603BF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539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PR-AUC 0,525     Recall 0,364</a:t>
            </a:r>
          </a:p>
          <a:p xmlns:a="http://schemas.openxmlformats.org/drawingml/2006/main">
            <a:pPr>
              <a:defRPr sz="18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Validação, limiar de decisão 0,5</a:t>
            </a:r>
          </a:p>
        </p:txBody>
      </p:sp>
    </p:spTree>
    <p:extLst>
      <p:ext uri="{BB962C8B-B14F-4D97-AF65-F5344CB8AC3E}">
        <p14:creationId xmlns:p14="http://schemas.microsoft.com/office/powerpoint/2010/main" val="319376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 • AÇÃO">
            <a:extLst xmlns:a="http://schemas.openxmlformats.org/drawingml/2006/main">
              <a:ext uri="{FF2B5EF4-FFF2-40B4-BE49-F238E27FC236}">
                <a16:creationId xmlns:a16="http://schemas.microsoft.com/office/drawing/2014/main" id="{77F991E4-F954-4D81-B78F-9F9C7135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A • AÇÃO</a:t>
            </a:r>
          </a:p>
        </p:txBody>
      </p:sp>
      <p:sp>
        <p:nvSpPr>
          <p:cNvPr id="2" name="O contrato bloqueou o lote inválido">
            <a:extLst xmlns:a="http://schemas.openxmlformats.org/drawingml/2006/main">
              <a:ext uri="{FF2B5EF4-FFF2-40B4-BE49-F238E27FC236}">
                <a16:creationId xmlns:a16="http://schemas.microsoft.com/office/drawing/2014/main" id="{E0654816-869C-4CF8-904E-B0ED2719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O contrato bloqueou o lote inválido</a:t>
            </a:r>
          </a:p>
        </p:txBody>
      </p:sp>
      <p:sp>
        <p:nvSpPr>
          <p:cNvPr id="3" name="Ygor Martinelli   /   Tech Challenge Fase 4">
            <a:extLst xmlns:a="http://schemas.openxmlformats.org/drawingml/2006/main">
              <a:ext uri="{FF2B5EF4-FFF2-40B4-BE49-F238E27FC236}">
                <a16:creationId xmlns:a16="http://schemas.microsoft.com/office/drawing/2014/main" id="{EE41C5F9-B705-4752-8E0E-60EE9375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Ygor Martinelli   /   Tech Challenge Fase 4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AAA044B3-B69F-439B-972A-4DA508C0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5.810">
            <a:extLst xmlns:a="http://schemas.openxmlformats.org/drawingml/2006/main">
              <a:ext uri="{FF2B5EF4-FFF2-40B4-BE49-F238E27FC236}">
                <a16:creationId xmlns:a16="http://schemas.microsoft.com/office/drawing/2014/main" id="{D6F7E0A3-BD9F-4E4F-9770-96EDEF11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5.810</a:t>
            </a:r>
          </a:p>
        </p:txBody>
      </p:sp>
      <p:sp>
        <p:nvSpPr>
          <p:cNvPr id="6" name="registros rejeitados">
            <a:extLst xmlns:a="http://schemas.openxmlformats.org/drawingml/2006/main">
              <a:ext uri="{FF2B5EF4-FFF2-40B4-BE49-F238E27FC236}">
                <a16:creationId xmlns:a16="http://schemas.microsoft.com/office/drawing/2014/main" id="{74CC988F-1249-4C4E-A97A-2DAAB9EE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AF8"/>
                </a:solidFill>
                <a:latin typeface="Arial"/>
                <a:ea typeface="Arial"/>
                <a:cs typeface="Arial"/>
              </a:rPr>
              <a:t>registros rejeitados</a:t>
            </a:r>
          </a:p>
        </p:txBody>
      </p:sp>
      <p:sp>
        <p:nvSpPr>
          <p:cNvPr id="7" name="0 predições">
            <a:extLst xmlns:a="http://schemas.openxmlformats.org/drawingml/2006/main">
              <a:ext uri="{FF2B5EF4-FFF2-40B4-BE49-F238E27FC236}">
                <a16:creationId xmlns:a16="http://schemas.microsoft.com/office/drawing/2014/main" id="{C0F70A64-2BCE-4C72-8BF1-EF2C118A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0 predições</a:t>
            </a:r>
          </a:p>
        </p:txBody>
      </p:sp>
      <p:sp>
        <p:nvSpPr>
          <p:cNvPr id="8" name="ID único e positivo&#10;Idade entre 18 e 120 anos">
            <a:extLst xmlns:a="http://schemas.openxmlformats.org/drawingml/2006/main">
              <a:ext uri="{FF2B5EF4-FFF2-40B4-BE49-F238E27FC236}">
                <a16:creationId xmlns:a16="http://schemas.microsoft.com/office/drawing/2014/main" id="{AB22F9BB-621E-4711-A45A-D3309C4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4714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ID único e positivo</a:t>
            </a:r>
          </a:p>
          <a:p xmlns:a="http://schemas.openxmlformats.org/drawingml/2006/main">
            <a: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Idade entre 18 e 120 anos</a:t>
            </a:r>
          </a:p>
          <a:p xmlns:a="http://schemas.openxmlformats.org/drawingml/2006/main">
            <a:pPr>
              <a:defRPr sz="187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Limite de crédito maior que zero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F3BC8-EEE1-4D05-8072-C805B2102D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b065df318418a"/>
          <a:stretch xmlns:a="http://schemas.openxmlformats.org/drawingml/2006/main"/>
        </p:blipFill>
        <p:spPr>
          <a:xfrm xmlns:a="http://schemas.openxmlformats.org/drawingml/2006/main">
            <a:off x="5823747" y="1857375"/>
            <a:ext cx="5554656" cy="4143375"/>
          </a:xfrm>
          <a:prstGeom xmlns:a="http://schemas.openxmlformats.org/drawingml/2006/main" prst="rect">
            <a:avLst/>
          </a:prstGeom>
        </p:spPr>
      </p:pic>
      <p:sp>
        <p:nvSpPr>
          <p:cNvPr id="10" name="“Failed” é o resultado esperado da rejeição.">
            <a:extLst xmlns:a="http://schemas.openxmlformats.org/drawingml/2006/main">
              <a:ext uri="{FF2B5EF4-FFF2-40B4-BE49-F238E27FC236}">
                <a16:creationId xmlns:a16="http://schemas.microsoft.com/office/drawing/2014/main" id="{1E99D4F7-25AB-42F0-8CE4-D8FC41C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124575"/>
            <a:ext cx="592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3E3CD"/>
                </a:solidFill>
                <a:latin typeface="Arial"/>
                <a:ea typeface="Arial"/>
                <a:cs typeface="Arial"/>
              </a:rPr>
              <a:t>“Failed” é o resultado esperado da rejeição.</a:t>
            </a:r>
          </a:p>
        </p:txBody>
      </p:sp>
    </p:spTree>
    <p:extLst>
      <p:ext uri="{BB962C8B-B14F-4D97-AF65-F5344CB8AC3E}">
        <p14:creationId xmlns:p14="http://schemas.microsoft.com/office/powerpoint/2010/main" val="16450302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 • AÇÃO">
            <a:extLst xmlns:a="http://schemas.openxmlformats.org/drawingml/2006/main">
              <a:ext uri="{FF2B5EF4-FFF2-40B4-BE49-F238E27FC236}">
                <a16:creationId xmlns:a16="http://schemas.microsoft.com/office/drawing/2014/main" id="{B8E49EC7-DD76-4510-8B92-0FF77D0D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A • AÇÃO</a:t>
            </a:r>
          </a:p>
        </p:txBody>
      </p:sp>
      <p:sp>
        <p:nvSpPr>
          <p:cNvPr id="2" name="Evidently identificou as duas mudanças">
            <a:extLst xmlns:a="http://schemas.openxmlformats.org/drawingml/2006/main">
              <a:ext uri="{FF2B5EF4-FFF2-40B4-BE49-F238E27FC236}">
                <a16:creationId xmlns:a16="http://schemas.microsoft.com/office/drawing/2014/main" id="{FD95C799-9D80-465F-97FE-8DA9667C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Evidently identificou as duas mudanças</a:t>
            </a:r>
          </a:p>
        </p:txBody>
      </p:sp>
      <p:sp>
        <p:nvSpPr>
          <p:cNvPr id="3" name="Ygor Martinelli   /   Tech Challenge Fase 4">
            <a:extLst xmlns:a="http://schemas.openxmlformats.org/drawingml/2006/main">
              <a:ext uri="{FF2B5EF4-FFF2-40B4-BE49-F238E27FC236}">
                <a16:creationId xmlns:a16="http://schemas.microsoft.com/office/drawing/2014/main" id="{DF66BB0D-E589-47B2-BD20-BA321F62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Ygor Martinelli   /   Tech Challenge Fase 4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08231C0A-E3DA-47F6-9336-D3017AA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Cenário severo simulado">
            <a:extLst xmlns:a="http://schemas.openxmlformats.org/drawingml/2006/main">
              <a:ext uri="{FF2B5EF4-FFF2-40B4-BE49-F238E27FC236}">
                <a16:creationId xmlns:a16="http://schemas.microsoft.com/office/drawing/2014/main" id="{1093BA46-1846-4264-A76B-3000D241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Cenário severo simulado</a:t>
            </a:r>
          </a:p>
        </p:txBody>
      </p:sp>
      <p:sp>
        <p:nvSpPr>
          <p:cNvPr id="6" name="PSI: limiar 0,20">
            <a:extLst xmlns:a="http://schemas.openxmlformats.org/drawingml/2006/main">
              <a:ext uri="{FF2B5EF4-FFF2-40B4-BE49-F238E27FC236}">
                <a16:creationId xmlns:a16="http://schemas.microsoft.com/office/drawing/2014/main" id="{F64B83AF-58C2-4D72-8A11-6E5E9BC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PSI: limiar 0,20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946A5-34B7-428F-AD8E-0DF1C7008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634cf504d4980"/>
          <a:srcRect xmlns:a="http://schemas.openxmlformats.org/drawingml/2006/main" l="2500" t="29700" r="2500" b="48600"/>
          <a:stretch xmlns:a="http://schemas.openxmlformats.org/drawingml/2006/main"/>
        </p:blipFill>
        <p:spPr>
          <a:xfrm xmlns:a="http://schemas.openxmlformats.org/drawingml/2006/main">
            <a:off x="609600" y="2447925"/>
            <a:ext cx="10972800" cy="3067050"/>
          </a:xfrm>
          <a:prstGeom xmlns:a="http://schemas.openxmlformats.org/drawingml/2006/main" prst="rect">
            <a:avLst/>
          </a:prstGeom>
        </p:spPr>
      </p:pic>
      <p:sp>
        <p:nvSpPr>
          <p:cNvPr id="8" name="pay_0   PSI 9,259">
            <a:extLst xmlns:a="http://schemas.openxmlformats.org/drawingml/2006/main">
              <a:ext uri="{FF2B5EF4-FFF2-40B4-BE49-F238E27FC236}">
                <a16:creationId xmlns:a16="http://schemas.microsoft.com/office/drawing/2014/main" id="{83BF209A-355F-420B-A74D-2CBCECC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pay_0   PSI 9,259</a:t>
            </a:r>
          </a:p>
        </p:txBody>
      </p:sp>
      <p:sp>
        <p:nvSpPr>
          <p:cNvPr id="9" name="limit_bal   PSI 2,677">
            <a:extLst xmlns:a="http://schemas.openxmlformats.org/drawingml/2006/main">
              <a:ext uri="{FF2B5EF4-FFF2-40B4-BE49-F238E27FC236}">
                <a16:creationId xmlns:a16="http://schemas.microsoft.com/office/drawing/2014/main" id="{C96E0C92-373F-4667-A16E-06C883AD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38800"/>
            <a:ext cx="529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limit_bal   PSI 2,677</a:t>
            </a:r>
          </a:p>
        </p:txBody>
      </p:sp>
    </p:spTree>
    <p:extLst>
      <p:ext uri="{BB962C8B-B14F-4D97-AF65-F5344CB8AC3E}">
        <p14:creationId xmlns:p14="http://schemas.microsoft.com/office/powerpoint/2010/main" val="1267675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 • RESULTADO">
            <a:extLst xmlns:a="http://schemas.openxmlformats.org/drawingml/2006/main">
              <a:ext uri="{FF2B5EF4-FFF2-40B4-BE49-F238E27FC236}">
                <a16:creationId xmlns:a16="http://schemas.microsoft.com/office/drawing/2014/main" id="{B9890779-9B82-4C29-A47C-4BA3E4F4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R • RESULTADO</a:t>
            </a:r>
          </a:p>
        </p:txBody>
      </p:sp>
      <p:sp>
        <p:nvSpPr>
          <p:cNvPr id="2" name="A performance caiu com as mesmas entradas">
            <a:extLst xmlns:a="http://schemas.openxmlformats.org/drawingml/2006/main">
              <a:ext uri="{FF2B5EF4-FFF2-40B4-BE49-F238E27FC236}">
                <a16:creationId xmlns:a16="http://schemas.microsoft.com/office/drawing/2014/main" id="{29E2CE40-13FE-49CC-BBA5-153706C8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E3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39"/>
                </a:solidFill>
                <a:latin typeface="Arial"/>
                <a:ea typeface="Arial"/>
                <a:cs typeface="Arial"/>
              </a:rPr>
              <a:t>A performance caiu com as mesmas entradas</a:t>
            </a:r>
          </a:p>
        </p:txBody>
      </p:sp>
      <p:sp>
        <p:nvSpPr>
          <p:cNvPr id="3" name="Ygor Martinelli   /   Tech Challenge Fase 4">
            <a:extLst xmlns:a="http://schemas.openxmlformats.org/drawingml/2006/main">
              <a:ext uri="{FF2B5EF4-FFF2-40B4-BE49-F238E27FC236}">
                <a16:creationId xmlns:a16="http://schemas.microsoft.com/office/drawing/2014/main" id="{CE0A380E-9D6A-456A-B941-86B67D2F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Ygor Martinelli   /   Tech Challenge Fase 4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8330D5CC-BB3D-4529-876C-24BDAE85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IMULAÇÃO DE CONCEPT DRIFT">
            <a:extLst xmlns:a="http://schemas.openxmlformats.org/drawingml/2006/main">
              <a:ext uri="{FF2B5EF4-FFF2-40B4-BE49-F238E27FC236}">
                <a16:creationId xmlns:a16="http://schemas.microsoft.com/office/drawing/2014/main" id="{BA504AB6-81F1-432D-A254-37BDE868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SIMULAÇÃO DE CONCEPT DRIFT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0193B-3278-4667-AFFF-3472202CB2ED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86400"/>
                <a:gridCol w="2381250"/>
                <a:gridCol w="3105150"/>
              </a:tblGrid>
              <a:tr h="7239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Cenário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7FAF8"/>
                          </a:solidFill>
                          <a:latin typeface="Arial"/>
                          <a:ea typeface="Arial"/>
                          <a:cs typeface="Arial"/>
                        </a:rPr>
                        <a:t>Alertas de drift em 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T w="9525">
                      <a:solidFill>
                        <a:srgbClr val="CCDCD8"/>
                      </a:solidFill>
                      <a:prstDash val="solid"/>
                    </a:lnT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0B716D"/>
                    </a:solidFill>
                  </a:tcPr>
                </a:tc>
              </a:tr>
              <a:tr h="7239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Controle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0,771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Concept drift simulado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CD8"/>
                      </a:solidFill>
                      <a:prstDash val="solid"/>
                    </a:lnL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0,491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02E39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CD8"/>
                      </a:solidFill>
                      <a:prstDash val="solid"/>
                    </a:lnR>
                    <a:lnB w="9525">
                      <a:solidFill>
                        <a:srgbClr val="CCDC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eda de 0,280">
            <a:extLst xmlns:a="http://schemas.openxmlformats.org/drawingml/2006/main">
              <a:ext uri="{FF2B5EF4-FFF2-40B4-BE49-F238E27FC236}">
                <a16:creationId xmlns:a16="http://schemas.microsoft.com/office/drawing/2014/main" id="{F136A7D9-CEF5-4AE9-99AE-F54DAF3D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B716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716D"/>
                </a:solidFill>
                <a:latin typeface="Arial"/>
                <a:ea typeface="Arial"/>
                <a:cs typeface="Arial"/>
              </a:rPr>
              <a:t>Queda de 0,280</a:t>
            </a:r>
          </a:p>
        </p:txBody>
      </p:sp>
      <p:sp>
        <p:nvSpPr>
          <p:cNvPr id="8" name="O monitor de desempenho acionou o alerta.">
            <a:extLst xmlns:a="http://schemas.openxmlformats.org/drawingml/2006/main">
              <a:ext uri="{FF2B5EF4-FFF2-40B4-BE49-F238E27FC236}">
                <a16:creationId xmlns:a16="http://schemas.microsoft.com/office/drawing/2014/main" id="{1DCE74FA-70FB-4B65-84B0-2C0DB2B3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E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E39"/>
                </a:solidFill>
                <a:latin typeface="Arial"/>
                <a:ea typeface="Arial"/>
                <a:cs typeface="Arial"/>
              </a:rPr>
              <a:t>O monitor de desempenho acionou o alerta.</a:t>
            </a:r>
          </a:p>
        </p:txBody>
      </p:sp>
      <p:sp>
        <p:nvSpPr>
          <p:cNvPr id="9" name="Rótulos alterados apenas&#10;na cópia de simulaçã">
            <a:extLst xmlns:a="http://schemas.openxmlformats.org/drawingml/2006/main">
              <a:ext uri="{FF2B5EF4-FFF2-40B4-BE49-F238E27FC236}">
                <a16:creationId xmlns:a16="http://schemas.microsoft.com/office/drawing/2014/main" id="{BB4ED4FC-67C7-4585-B9D7-348E0A3F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Rótulos alterados apenas</a:t>
            </a:r>
          </a:p>
          <a:p xmlns:a="http://schemas.openxmlformats.org/drawingml/2006/main">
            <a:pPr>
              <a:defRPr sz="1950" b="0">
                <a:solidFill>
                  <a:srgbClr val="526B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B72"/>
                </a:solidFill>
                <a:latin typeface="Arial"/>
                <a:ea typeface="Arial"/>
                <a:cs typeface="Arial"/>
              </a:rPr>
              <a:t>na cópia de simulação.</a:t>
            </a:r>
          </a:p>
        </p:txBody>
      </p:sp>
    </p:spTree>
    <p:extLst>
      <p:ext uri="{BB962C8B-B14F-4D97-AF65-F5344CB8AC3E}">
        <p14:creationId xmlns:p14="http://schemas.microsoft.com/office/powerpoint/2010/main" val="1544712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 • RESULTADO">
            <a:extLst xmlns:a="http://schemas.openxmlformats.org/drawingml/2006/main">
              <a:ext uri="{FF2B5EF4-FFF2-40B4-BE49-F238E27FC236}">
                <a16:creationId xmlns:a16="http://schemas.microsoft.com/office/drawing/2014/main" id="{F5973D38-70FA-44E3-A14F-AD7615CC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R • RESULTADO</a:t>
            </a:r>
          </a:p>
        </p:txBody>
      </p:sp>
      <p:sp>
        <p:nvSpPr>
          <p:cNvPr id="2" name="Código validado na main">
            <a:extLst xmlns:a="http://schemas.openxmlformats.org/drawingml/2006/main">
              <a:ext uri="{FF2B5EF4-FFF2-40B4-BE49-F238E27FC236}">
                <a16:creationId xmlns:a16="http://schemas.microsoft.com/office/drawing/2014/main" id="{84D59475-A2D2-4291-BBCE-1C25E327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Código validado na main</a:t>
            </a:r>
          </a:p>
        </p:txBody>
      </p:sp>
      <p:sp>
        <p:nvSpPr>
          <p:cNvPr id="3" name="Ygor Martinelli   /   Tech Challenge Fase 4">
            <a:extLst xmlns:a="http://schemas.openxmlformats.org/drawingml/2006/main">
              <a:ext uri="{FF2B5EF4-FFF2-40B4-BE49-F238E27FC236}">
                <a16:creationId xmlns:a16="http://schemas.microsoft.com/office/drawing/2014/main" id="{B9153A5F-A303-4D16-BF22-1E50A815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Ygor Martinelli   /   Tech Challenge Fase 4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E11E749E-4366-468F-B3DD-77F9A3C8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D7829-7A55-45B5-96A8-BDF474753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a5be9fc5d4434"/>
          <a:srcRect xmlns:a="http://schemas.openxmlformats.org/drawingml/2006/main" l="0" t="23500" r="0" b="8500"/>
          <a:stretch xmlns:a="http://schemas.openxmlformats.org/drawingml/2006/main"/>
        </p:blipFill>
        <p:spPr>
          <a:xfrm xmlns:a="http://schemas.openxmlformats.org/drawingml/2006/main">
            <a:off x="609600" y="1857375"/>
            <a:ext cx="10972800" cy="3990975"/>
          </a:xfrm>
          <a:prstGeom xmlns:a="http://schemas.openxmlformats.org/drawingml/2006/main" prst="rect">
            <a:avLst/>
          </a:prstGeom>
        </p:spPr>
      </p:pic>
      <p:sp>
        <p:nvSpPr>
          <p:cNvPr id="6" name="13 testes em cada sistema">
            <a:extLst xmlns:a="http://schemas.openxmlformats.org/drawingml/2006/main">
              <a:ext uri="{FF2B5EF4-FFF2-40B4-BE49-F238E27FC236}">
                <a16:creationId xmlns:a16="http://schemas.microsoft.com/office/drawing/2014/main" id="{1829571D-AA6C-4466-8397-C0C8F8F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13 testes em cada sistema</a:t>
            </a:r>
          </a:p>
        </p:txBody>
      </p:sp>
      <p:sp>
        <p:nvSpPr>
          <p:cNvPr id="7" name="Ubuntu e Windows">
            <a:extLst xmlns:a="http://schemas.openxmlformats.org/drawingml/2006/main">
              <a:ext uri="{FF2B5EF4-FFF2-40B4-BE49-F238E27FC236}">
                <a16:creationId xmlns:a16="http://schemas.microsoft.com/office/drawing/2014/main" id="{CEE48B8C-DC96-4D2A-ACC0-F00BD0BF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53125"/>
            <a:ext cx="3771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AF8"/>
                </a:solidFill>
                <a:latin typeface="Arial"/>
                <a:ea typeface="Arial"/>
                <a:cs typeface="Arial"/>
              </a:rPr>
              <a:t>Ubuntu e Windows</a:t>
            </a:r>
          </a:p>
        </p:txBody>
      </p:sp>
    </p:spTree>
    <p:extLst>
      <p:ext uri="{BB962C8B-B14F-4D97-AF65-F5344CB8AC3E}">
        <p14:creationId xmlns:p14="http://schemas.microsoft.com/office/powerpoint/2010/main" val="1562617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4ECEF-43A0-438C-ADE4-C29AD82BD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00bf5ce844cd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 • RESULTADO E APRENDIZADOS">
            <a:extLst xmlns:a="http://schemas.openxmlformats.org/drawingml/2006/main">
              <a:ext uri="{FF2B5EF4-FFF2-40B4-BE49-F238E27FC236}">
                <a16:creationId xmlns:a16="http://schemas.microsoft.com/office/drawing/2014/main" id="{F34F07BC-3123-45BD-8967-5B7D8F18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R • RESULTADO E APRENDIZADOS</a:t>
            </a:r>
          </a:p>
        </p:txBody>
      </p:sp>
      <p:sp>
        <p:nvSpPr>
          <p:cNvPr id="3" name="Monitoramento com&#10;evidências verificáveis">
            <a:extLst xmlns:a="http://schemas.openxmlformats.org/drawingml/2006/main">
              <a:ext uri="{FF2B5EF4-FFF2-40B4-BE49-F238E27FC236}">
                <a16:creationId xmlns:a16="http://schemas.microsoft.com/office/drawing/2014/main" id="{044B0D3D-2740-4B72-8F37-F142F538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Monitoramento com</a:t>
            </a:r>
          </a:p>
          <a:p xmlns:a="http://schemas.openxmlformats.org/drawingml/2006/main">
            <a:pPr>
              <a:defRPr sz="3900" b="1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AF8"/>
                </a:solidFill>
                <a:latin typeface="Arial"/>
                <a:ea typeface="Arial"/>
                <a:cs typeface="Arial"/>
              </a:rPr>
              <a:t>evidências verificáveis</a:t>
            </a:r>
          </a:p>
        </p:txBody>
      </p:sp>
      <p:sp>
        <p:nvSpPr>
          <p:cNvPr id="4" name="Qualidade do lote">
            <a:extLst xmlns:a="http://schemas.openxmlformats.org/drawingml/2006/main">
              <a:ext uri="{FF2B5EF4-FFF2-40B4-BE49-F238E27FC236}">
                <a16:creationId xmlns:a16="http://schemas.microsoft.com/office/drawing/2014/main" id="{E6CE6EBD-FF9F-430C-B05F-3279E9B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Qualidade do lote</a:t>
            </a:r>
          </a:p>
        </p:txBody>
      </p:sp>
      <p:sp>
        <p:nvSpPr>
          <p:cNvPr id="5" name="Entradas inválidas param antes da predição.">
            <a:extLst xmlns:a="http://schemas.openxmlformats.org/drawingml/2006/main">
              <a:ext uri="{FF2B5EF4-FFF2-40B4-BE49-F238E27FC236}">
                <a16:creationId xmlns:a16="http://schemas.microsoft.com/office/drawing/2014/main" id="{11DCC644-13C4-4EA7-862A-56207B22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AF8"/>
                </a:solidFill>
                <a:latin typeface="Arial"/>
                <a:ea typeface="Arial"/>
                <a:cs typeface="Arial"/>
              </a:rPr>
              <a:t>Entradas inválidas param antes da predição.</a:t>
            </a:r>
          </a:p>
        </p:txBody>
      </p:sp>
      <p:sp>
        <p:nvSpPr>
          <p:cNvPr id="6" name="Distribuição e desempenho">
            <a:extLst xmlns:a="http://schemas.openxmlformats.org/drawingml/2006/main">
              <a:ext uri="{FF2B5EF4-FFF2-40B4-BE49-F238E27FC236}">
                <a16:creationId xmlns:a16="http://schemas.microsoft.com/office/drawing/2014/main" id="{5BB8748E-6BB5-4C2B-A1CD-A1FE093C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3E3CD"/>
                </a:solidFill>
                <a:latin typeface="Arial"/>
                <a:ea typeface="Arial"/>
                <a:cs typeface="Arial"/>
              </a:rPr>
              <a:t>Distribuição e desempenho</a:t>
            </a:r>
          </a:p>
        </p:txBody>
      </p:sp>
      <p:sp>
        <p:nvSpPr>
          <p:cNvPr id="7" name="Sinais diferentes orientam a investigação.">
            <a:extLst xmlns:a="http://schemas.openxmlformats.org/drawingml/2006/main">
              <a:ext uri="{FF2B5EF4-FFF2-40B4-BE49-F238E27FC236}">
                <a16:creationId xmlns:a16="http://schemas.microsoft.com/office/drawing/2014/main" id="{407D25E1-B56D-490F-A895-991B454C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7FA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AF8"/>
                </a:solidFill>
                <a:latin typeface="Arial"/>
                <a:ea typeface="Arial"/>
                <a:cs typeface="Arial"/>
              </a:rPr>
              <a:t>Sinais diferentes orientam a investigação.</a:t>
            </a:r>
          </a:p>
        </p:txBody>
      </p:sp>
      <p:sp>
        <p:nvSpPr>
          <p:cNvPr id="8" name="Governança: minimização, auditoria por grupos">
            <a:extLst xmlns:a="http://schemas.openxmlformats.org/drawingml/2006/main">
              <a:ext uri="{FF2B5EF4-FFF2-40B4-BE49-F238E27FC236}">
                <a16:creationId xmlns:a16="http://schemas.microsoft.com/office/drawing/2014/main" id="{53135822-64EA-4648-BE0B-CEDAB784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Governança: minimização, auditoria por grupos e revisão humana.</a:t>
            </a:r>
          </a:p>
          <a:p xmlns:a="http://schemas.openxmlformats.org/drawingml/2006/main">
            <a:pPr>
              <a:defRPr sz="1725" b="0">
                <a:solidFill>
                  <a:srgbClr val="B9CF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D2"/>
                </a:solidFill>
                <a:latin typeface="Arial"/>
                <a:ea typeface="Arial"/>
                <a:cs typeface="Arial"/>
              </a:rPr>
              <a:t>Base histórica de Taiwan exige validação antes de uso no Brasil.</a:t>
            </a:r>
          </a:p>
        </p:txBody>
      </p:sp>
      <p:sp>
        <p:nvSpPr>
          <p:cNvPr id="9" name="github.com/ygormartinelli/tech-challenge-fase">
            <a:extLst xmlns:a="http://schemas.openxmlformats.org/drawingml/2006/main">
              <a:ext uri="{FF2B5EF4-FFF2-40B4-BE49-F238E27FC236}">
                <a16:creationId xmlns:a16="http://schemas.microsoft.com/office/drawing/2014/main" id="{3ED999BE-0E8C-4DF0-8715-AD86B4D5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3E3C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3E3CD"/>
                </a:solidFill>
                <a:latin typeface="Arial"/>
                <a:ea typeface="Arial"/>
                <a:cs typeface="Arial"/>
              </a:rPr>
              <a:t>github.com/ygormartinelli/tech-challenge-fase-4</a:t>
            </a:r>
          </a:p>
        </p:txBody>
      </p:sp>
    </p:spTree>
    <p:extLst>
      <p:ext uri="{BB962C8B-B14F-4D97-AF65-F5344CB8AC3E}">
        <p14:creationId xmlns:p14="http://schemas.microsoft.com/office/powerpoint/2010/main" val="1147309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2026-10-28T17:55:50.3710000Z</dcterms:created>
  <dcterms:modified xsi:type="dcterms:W3CDTF">2026-10-28T17:55:50.3710000Z</dcterms:modified>
</coreProperties>
</file>